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2D2E99-AECC-4B9D-913A-70CE1D64487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70DCE24-83D8-46DE-8A7B-368A49E281D2}">
      <dgm:prSet/>
      <dgm:spPr/>
      <dgm:t>
        <a:bodyPr/>
        <a:lstStyle/>
        <a:p>
          <a:r>
            <a:rPr lang="en-US"/>
            <a:t>Tecnica de ensamble que combina multiples modelos debiles (arboles) para crear un modelo fuerte</a:t>
          </a:r>
        </a:p>
      </dgm:t>
    </dgm:pt>
    <dgm:pt modelId="{7A9F65BB-B430-447B-A94C-3476067CD796}" type="parTrans" cxnId="{A0F32DDF-639A-425E-9626-B04A1537D875}">
      <dgm:prSet/>
      <dgm:spPr/>
      <dgm:t>
        <a:bodyPr/>
        <a:lstStyle/>
        <a:p>
          <a:endParaRPr lang="en-US"/>
        </a:p>
      </dgm:t>
    </dgm:pt>
    <dgm:pt modelId="{A48D8196-3762-44E3-939F-56F58697838E}" type="sibTrans" cxnId="{A0F32DDF-639A-425E-9626-B04A1537D875}">
      <dgm:prSet/>
      <dgm:spPr/>
      <dgm:t>
        <a:bodyPr/>
        <a:lstStyle/>
        <a:p>
          <a:endParaRPr lang="en-US"/>
        </a:p>
      </dgm:t>
    </dgm:pt>
    <dgm:pt modelId="{9F99A832-2EEB-48EF-AD13-F059AAE2DFA2}">
      <dgm:prSet/>
      <dgm:spPr/>
      <dgm:t>
        <a:bodyPr/>
        <a:lstStyle/>
        <a:p>
          <a:r>
            <a:rPr lang="en-US"/>
            <a:t>Construye arboles de forma secuencial, donde cada nuevo arbol corrige los errores del conjunto anterior</a:t>
          </a:r>
        </a:p>
      </dgm:t>
    </dgm:pt>
    <dgm:pt modelId="{610B08D7-0338-4ACE-BED0-DE5FD5DFE9A6}" type="parTrans" cxnId="{D0774371-6F25-4585-888E-C4CCE5040DF8}">
      <dgm:prSet/>
      <dgm:spPr/>
      <dgm:t>
        <a:bodyPr/>
        <a:lstStyle/>
        <a:p>
          <a:endParaRPr lang="en-US"/>
        </a:p>
      </dgm:t>
    </dgm:pt>
    <dgm:pt modelId="{6B5D154F-5500-4DB1-A4D8-00E65D188DF3}" type="sibTrans" cxnId="{D0774371-6F25-4585-888E-C4CCE5040DF8}">
      <dgm:prSet/>
      <dgm:spPr/>
      <dgm:t>
        <a:bodyPr/>
        <a:lstStyle/>
        <a:p>
          <a:endParaRPr lang="en-US"/>
        </a:p>
      </dgm:t>
    </dgm:pt>
    <dgm:pt modelId="{C37113BD-53AC-414F-B8D5-AB323347EF76}">
      <dgm:prSet/>
      <dgm:spPr/>
      <dgm:t>
        <a:bodyPr/>
        <a:lstStyle/>
        <a:p>
          <a:r>
            <a:rPr lang="en-US"/>
            <a:t>Utiliza el gradiente de la funcion de perdida para determinar la direccion de mejora</a:t>
          </a:r>
        </a:p>
      </dgm:t>
    </dgm:pt>
    <dgm:pt modelId="{24CF534A-1C51-4FEB-9697-8E99B0ADCF04}" type="parTrans" cxnId="{33F1FE5D-3E66-4BB5-9D55-BB16712D3C93}">
      <dgm:prSet/>
      <dgm:spPr/>
      <dgm:t>
        <a:bodyPr/>
        <a:lstStyle/>
        <a:p>
          <a:endParaRPr lang="en-US"/>
        </a:p>
      </dgm:t>
    </dgm:pt>
    <dgm:pt modelId="{03569A8D-CAB0-4C8A-84E1-FD706DD251DE}" type="sibTrans" cxnId="{33F1FE5D-3E66-4BB5-9D55-BB16712D3C93}">
      <dgm:prSet/>
      <dgm:spPr/>
      <dgm:t>
        <a:bodyPr/>
        <a:lstStyle/>
        <a:p>
          <a:endParaRPr lang="en-US"/>
        </a:p>
      </dgm:t>
    </dgm:pt>
    <dgm:pt modelId="{FA25D125-0E9D-46F5-B22E-E9E995388C10}">
      <dgm:prSet/>
      <dgm:spPr/>
      <dgm:t>
        <a:bodyPr/>
        <a:lstStyle/>
        <a:p>
          <a:r>
            <a:rPr lang="en-US"/>
            <a:t>Ejemplos: XGBoost, LightGBM, CatBoost, HistGradientBoosting</a:t>
          </a:r>
        </a:p>
      </dgm:t>
    </dgm:pt>
    <dgm:pt modelId="{08AA074E-A8EF-4921-B5D5-794B964B757C}" type="parTrans" cxnId="{01F91332-9886-4655-AF5A-5D9A03E091ED}">
      <dgm:prSet/>
      <dgm:spPr/>
      <dgm:t>
        <a:bodyPr/>
        <a:lstStyle/>
        <a:p>
          <a:endParaRPr lang="en-US"/>
        </a:p>
      </dgm:t>
    </dgm:pt>
    <dgm:pt modelId="{DB293AC6-DECA-4A15-87E3-1DDA4AFF0FD6}" type="sibTrans" cxnId="{01F91332-9886-4655-AF5A-5D9A03E091ED}">
      <dgm:prSet/>
      <dgm:spPr/>
      <dgm:t>
        <a:bodyPr/>
        <a:lstStyle/>
        <a:p>
          <a:endParaRPr lang="en-US"/>
        </a:p>
      </dgm:t>
    </dgm:pt>
    <dgm:pt modelId="{41561039-42B2-44AB-8722-D9B6B018C76D}" type="pres">
      <dgm:prSet presAssocID="{F42D2E99-AECC-4B9D-913A-70CE1D644871}" presName="linear" presStyleCnt="0">
        <dgm:presLayoutVars>
          <dgm:animLvl val="lvl"/>
          <dgm:resizeHandles val="exact"/>
        </dgm:presLayoutVars>
      </dgm:prSet>
      <dgm:spPr/>
    </dgm:pt>
    <dgm:pt modelId="{0F00BEB3-67EE-4B04-84EF-2E493315572A}" type="pres">
      <dgm:prSet presAssocID="{B70DCE24-83D8-46DE-8A7B-368A49E281D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337CA69-A1B7-4ED5-AE4B-6C80BC15BF5D}" type="pres">
      <dgm:prSet presAssocID="{A48D8196-3762-44E3-939F-56F58697838E}" presName="spacer" presStyleCnt="0"/>
      <dgm:spPr/>
    </dgm:pt>
    <dgm:pt modelId="{9EFCEF33-671F-40A3-8049-6831C28915C7}" type="pres">
      <dgm:prSet presAssocID="{9F99A832-2EEB-48EF-AD13-F059AAE2DFA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6F4C00-3FAE-4500-8465-AA73869E9751}" type="pres">
      <dgm:prSet presAssocID="{6B5D154F-5500-4DB1-A4D8-00E65D188DF3}" presName="spacer" presStyleCnt="0"/>
      <dgm:spPr/>
    </dgm:pt>
    <dgm:pt modelId="{7CF5B47C-CD82-42A9-AD25-4A4B626CD67C}" type="pres">
      <dgm:prSet presAssocID="{C37113BD-53AC-414F-B8D5-AB323347EF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CF77B9A-0236-44E0-9479-AE7144514818}" type="pres">
      <dgm:prSet presAssocID="{03569A8D-CAB0-4C8A-84E1-FD706DD251DE}" presName="spacer" presStyleCnt="0"/>
      <dgm:spPr/>
    </dgm:pt>
    <dgm:pt modelId="{9EE5D922-E9AE-450B-BDE8-ED79F3F05E30}" type="pres">
      <dgm:prSet presAssocID="{FA25D125-0E9D-46F5-B22E-E9E995388C1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B339302-4603-4B98-A200-01DC3403A39F}" type="presOf" srcId="{9F99A832-2EEB-48EF-AD13-F059AAE2DFA2}" destId="{9EFCEF33-671F-40A3-8049-6831C28915C7}" srcOrd="0" destOrd="0" presId="urn:microsoft.com/office/officeart/2005/8/layout/vList2"/>
    <dgm:cxn modelId="{38262E29-FD31-4D3A-8A7A-0075342727BF}" type="presOf" srcId="{B70DCE24-83D8-46DE-8A7B-368A49E281D2}" destId="{0F00BEB3-67EE-4B04-84EF-2E493315572A}" srcOrd="0" destOrd="0" presId="urn:microsoft.com/office/officeart/2005/8/layout/vList2"/>
    <dgm:cxn modelId="{01F91332-9886-4655-AF5A-5D9A03E091ED}" srcId="{F42D2E99-AECC-4B9D-913A-70CE1D644871}" destId="{FA25D125-0E9D-46F5-B22E-E9E995388C10}" srcOrd="3" destOrd="0" parTransId="{08AA074E-A8EF-4921-B5D5-794B964B757C}" sibTransId="{DB293AC6-DECA-4A15-87E3-1DDA4AFF0FD6}"/>
    <dgm:cxn modelId="{33F1FE5D-3E66-4BB5-9D55-BB16712D3C93}" srcId="{F42D2E99-AECC-4B9D-913A-70CE1D644871}" destId="{C37113BD-53AC-414F-B8D5-AB323347EF76}" srcOrd="2" destOrd="0" parTransId="{24CF534A-1C51-4FEB-9697-8E99B0ADCF04}" sibTransId="{03569A8D-CAB0-4C8A-84E1-FD706DD251DE}"/>
    <dgm:cxn modelId="{D0774371-6F25-4585-888E-C4CCE5040DF8}" srcId="{F42D2E99-AECC-4B9D-913A-70CE1D644871}" destId="{9F99A832-2EEB-48EF-AD13-F059AAE2DFA2}" srcOrd="1" destOrd="0" parTransId="{610B08D7-0338-4ACE-BED0-DE5FD5DFE9A6}" sibTransId="{6B5D154F-5500-4DB1-A4D8-00E65D188DF3}"/>
    <dgm:cxn modelId="{D10FBE89-E5E7-42D1-8150-30906024FFE3}" type="presOf" srcId="{C37113BD-53AC-414F-B8D5-AB323347EF76}" destId="{7CF5B47C-CD82-42A9-AD25-4A4B626CD67C}" srcOrd="0" destOrd="0" presId="urn:microsoft.com/office/officeart/2005/8/layout/vList2"/>
    <dgm:cxn modelId="{74DAEBA6-821C-480F-89C4-CCDEB3C631C3}" type="presOf" srcId="{F42D2E99-AECC-4B9D-913A-70CE1D644871}" destId="{41561039-42B2-44AB-8722-D9B6B018C76D}" srcOrd="0" destOrd="0" presId="urn:microsoft.com/office/officeart/2005/8/layout/vList2"/>
    <dgm:cxn modelId="{A0F32DDF-639A-425E-9626-B04A1537D875}" srcId="{F42D2E99-AECC-4B9D-913A-70CE1D644871}" destId="{B70DCE24-83D8-46DE-8A7B-368A49E281D2}" srcOrd="0" destOrd="0" parTransId="{7A9F65BB-B430-447B-A94C-3476067CD796}" sibTransId="{A48D8196-3762-44E3-939F-56F58697838E}"/>
    <dgm:cxn modelId="{538F3EF9-C3F9-4E16-B42B-AA598FD2BC83}" type="presOf" srcId="{FA25D125-0E9D-46F5-B22E-E9E995388C10}" destId="{9EE5D922-E9AE-450B-BDE8-ED79F3F05E30}" srcOrd="0" destOrd="0" presId="urn:microsoft.com/office/officeart/2005/8/layout/vList2"/>
    <dgm:cxn modelId="{CA8642C6-F328-4C9E-8E17-879DB2F5F315}" type="presParOf" srcId="{41561039-42B2-44AB-8722-D9B6B018C76D}" destId="{0F00BEB3-67EE-4B04-84EF-2E493315572A}" srcOrd="0" destOrd="0" presId="urn:microsoft.com/office/officeart/2005/8/layout/vList2"/>
    <dgm:cxn modelId="{EEB7B6EA-4BFA-4FDB-849A-899E637C2D46}" type="presParOf" srcId="{41561039-42B2-44AB-8722-D9B6B018C76D}" destId="{7337CA69-A1B7-4ED5-AE4B-6C80BC15BF5D}" srcOrd="1" destOrd="0" presId="urn:microsoft.com/office/officeart/2005/8/layout/vList2"/>
    <dgm:cxn modelId="{FEA70E7E-3B23-4D48-A550-77B3EF10DCC6}" type="presParOf" srcId="{41561039-42B2-44AB-8722-D9B6B018C76D}" destId="{9EFCEF33-671F-40A3-8049-6831C28915C7}" srcOrd="2" destOrd="0" presId="urn:microsoft.com/office/officeart/2005/8/layout/vList2"/>
    <dgm:cxn modelId="{5DC5F13A-288E-4E95-805E-8DFA030B8EF8}" type="presParOf" srcId="{41561039-42B2-44AB-8722-D9B6B018C76D}" destId="{CF6F4C00-3FAE-4500-8465-AA73869E9751}" srcOrd="3" destOrd="0" presId="urn:microsoft.com/office/officeart/2005/8/layout/vList2"/>
    <dgm:cxn modelId="{5133F7FA-F439-4AA3-A766-60125219C6E3}" type="presParOf" srcId="{41561039-42B2-44AB-8722-D9B6B018C76D}" destId="{7CF5B47C-CD82-42A9-AD25-4A4B626CD67C}" srcOrd="4" destOrd="0" presId="urn:microsoft.com/office/officeart/2005/8/layout/vList2"/>
    <dgm:cxn modelId="{A72B995F-EFC0-495A-B5FF-3159D449BE9E}" type="presParOf" srcId="{41561039-42B2-44AB-8722-D9B6B018C76D}" destId="{ACF77B9A-0236-44E0-9479-AE7144514818}" srcOrd="5" destOrd="0" presId="urn:microsoft.com/office/officeart/2005/8/layout/vList2"/>
    <dgm:cxn modelId="{B336CEFE-D877-4791-9320-B471BAD79EE6}" type="presParOf" srcId="{41561039-42B2-44AB-8722-D9B6B018C76D}" destId="{9EE5D922-E9AE-450B-BDE8-ED79F3F05E3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FF79BF-4131-49B9-BEE7-E9B580991F7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E429E47-AF6C-48C8-8E3F-992ED3C73A8B}">
      <dgm:prSet/>
      <dgm:spPr/>
      <dgm:t>
        <a:bodyPr/>
        <a:lstStyle/>
        <a:p>
          <a:r>
            <a:rPr lang="en-US"/>
            <a:t>Modelo que divide el espacio de features mediante reglas de decision binarias</a:t>
          </a:r>
        </a:p>
      </dgm:t>
    </dgm:pt>
    <dgm:pt modelId="{7916A4DF-E01B-4716-92D4-6082903D4320}" type="parTrans" cxnId="{E4CE02C0-4600-4ADB-A27C-1962F3BA6B0A}">
      <dgm:prSet/>
      <dgm:spPr/>
      <dgm:t>
        <a:bodyPr/>
        <a:lstStyle/>
        <a:p>
          <a:endParaRPr lang="en-US"/>
        </a:p>
      </dgm:t>
    </dgm:pt>
    <dgm:pt modelId="{E48801F0-F0FC-44B8-A0A6-B56BDED15DF8}" type="sibTrans" cxnId="{E4CE02C0-4600-4ADB-A27C-1962F3BA6B0A}">
      <dgm:prSet/>
      <dgm:spPr/>
      <dgm:t>
        <a:bodyPr/>
        <a:lstStyle/>
        <a:p>
          <a:endParaRPr lang="en-US"/>
        </a:p>
      </dgm:t>
    </dgm:pt>
    <dgm:pt modelId="{35325AD1-E1CB-480A-B12D-51E74F038DC5}">
      <dgm:prSet/>
      <dgm:spPr/>
      <dgm:t>
        <a:bodyPr/>
        <a:lstStyle/>
        <a:p>
          <a:r>
            <a:rPr lang="en-US"/>
            <a:t>Cada nodo interno representa una condicion (ej: 'edad &gt; 30')</a:t>
          </a:r>
        </a:p>
      </dgm:t>
    </dgm:pt>
    <dgm:pt modelId="{74E2E92F-A46D-4419-8886-225FE4A1565C}" type="parTrans" cxnId="{625C45BD-0B66-4022-91DA-7DFD0037D61F}">
      <dgm:prSet/>
      <dgm:spPr/>
      <dgm:t>
        <a:bodyPr/>
        <a:lstStyle/>
        <a:p>
          <a:endParaRPr lang="en-US"/>
        </a:p>
      </dgm:t>
    </dgm:pt>
    <dgm:pt modelId="{3695BA8C-0251-468B-8797-99A0AEAB2A42}" type="sibTrans" cxnId="{625C45BD-0B66-4022-91DA-7DFD0037D61F}">
      <dgm:prSet/>
      <dgm:spPr/>
      <dgm:t>
        <a:bodyPr/>
        <a:lstStyle/>
        <a:p>
          <a:endParaRPr lang="en-US"/>
        </a:p>
      </dgm:t>
    </dgm:pt>
    <dgm:pt modelId="{880162DD-C077-4CC1-A3D6-DBF82A2AA725}">
      <dgm:prSet/>
      <dgm:spPr/>
      <dgm:t>
        <a:bodyPr/>
        <a:lstStyle/>
        <a:p>
          <a:r>
            <a:rPr lang="en-US"/>
            <a:t>Cada hoja representa una prediccion (valor numerico para regresion)</a:t>
          </a:r>
        </a:p>
      </dgm:t>
    </dgm:pt>
    <dgm:pt modelId="{B7F207CC-85AE-41C7-9562-6EDDA73E7C13}" type="parTrans" cxnId="{FE40C7A5-B29B-4265-BE4D-8B6AEA725D5A}">
      <dgm:prSet/>
      <dgm:spPr/>
      <dgm:t>
        <a:bodyPr/>
        <a:lstStyle/>
        <a:p>
          <a:endParaRPr lang="en-US"/>
        </a:p>
      </dgm:t>
    </dgm:pt>
    <dgm:pt modelId="{D1B694CB-AEA4-42E3-B4A6-967BA7949778}" type="sibTrans" cxnId="{FE40C7A5-B29B-4265-BE4D-8B6AEA725D5A}">
      <dgm:prSet/>
      <dgm:spPr/>
      <dgm:t>
        <a:bodyPr/>
        <a:lstStyle/>
        <a:p>
          <a:endParaRPr lang="en-US"/>
        </a:p>
      </dgm:t>
    </dgm:pt>
    <dgm:pt modelId="{553B005A-C7E6-4B06-97BF-C6BCE8B0E3F5}">
      <dgm:prSet/>
      <dgm:spPr/>
      <dgm:t>
        <a:bodyPr/>
        <a:lstStyle/>
        <a:p>
          <a:r>
            <a:rPr lang="en-US"/>
            <a:t>Los arboles debiles en boosting suelen ser poco profundos (depth=3-8)</a:t>
          </a:r>
        </a:p>
      </dgm:t>
    </dgm:pt>
    <dgm:pt modelId="{9DFBE5A5-3284-4206-8D60-0DBB2FB21F4F}" type="parTrans" cxnId="{F995C802-40DE-44D8-82B6-C3C88C6D3BDA}">
      <dgm:prSet/>
      <dgm:spPr/>
      <dgm:t>
        <a:bodyPr/>
        <a:lstStyle/>
        <a:p>
          <a:endParaRPr lang="en-US"/>
        </a:p>
      </dgm:t>
    </dgm:pt>
    <dgm:pt modelId="{154E4618-F772-42A8-9D90-2BA710F1A860}" type="sibTrans" cxnId="{F995C802-40DE-44D8-82B6-C3C88C6D3BDA}">
      <dgm:prSet/>
      <dgm:spPr/>
      <dgm:t>
        <a:bodyPr/>
        <a:lstStyle/>
        <a:p>
          <a:endParaRPr lang="en-US"/>
        </a:p>
      </dgm:t>
    </dgm:pt>
    <dgm:pt modelId="{696ED264-3C98-4341-8066-2AF8D62CECF7}" type="pres">
      <dgm:prSet presAssocID="{98FF79BF-4131-49B9-BEE7-E9B580991F7E}" presName="linear" presStyleCnt="0">
        <dgm:presLayoutVars>
          <dgm:animLvl val="lvl"/>
          <dgm:resizeHandles val="exact"/>
        </dgm:presLayoutVars>
      </dgm:prSet>
      <dgm:spPr/>
    </dgm:pt>
    <dgm:pt modelId="{B206FFB9-F50D-4AE6-B468-DBCB90634CDE}" type="pres">
      <dgm:prSet presAssocID="{6E429E47-AF6C-48C8-8E3F-992ED3C73A8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064A8A0-5C68-4D62-BD5C-E8C296AC1285}" type="pres">
      <dgm:prSet presAssocID="{E48801F0-F0FC-44B8-A0A6-B56BDED15DF8}" presName="spacer" presStyleCnt="0"/>
      <dgm:spPr/>
    </dgm:pt>
    <dgm:pt modelId="{178C8643-C745-4D7D-9D18-35BA3C421641}" type="pres">
      <dgm:prSet presAssocID="{35325AD1-E1CB-480A-B12D-51E74F038DC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04F8126-B020-43CA-9867-4B6D3B28BA01}" type="pres">
      <dgm:prSet presAssocID="{3695BA8C-0251-468B-8797-99A0AEAB2A42}" presName="spacer" presStyleCnt="0"/>
      <dgm:spPr/>
    </dgm:pt>
    <dgm:pt modelId="{4D0E88BA-424D-425B-9A5C-DDBAE27BE575}" type="pres">
      <dgm:prSet presAssocID="{880162DD-C077-4CC1-A3D6-DBF82A2AA7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05F341-61F9-4304-8954-8C59B158198D}" type="pres">
      <dgm:prSet presAssocID="{D1B694CB-AEA4-42E3-B4A6-967BA7949778}" presName="spacer" presStyleCnt="0"/>
      <dgm:spPr/>
    </dgm:pt>
    <dgm:pt modelId="{2C695014-F197-445C-BCF5-7C264228F897}" type="pres">
      <dgm:prSet presAssocID="{553B005A-C7E6-4B06-97BF-C6BCE8B0E3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95C802-40DE-44D8-82B6-C3C88C6D3BDA}" srcId="{98FF79BF-4131-49B9-BEE7-E9B580991F7E}" destId="{553B005A-C7E6-4B06-97BF-C6BCE8B0E3F5}" srcOrd="3" destOrd="0" parTransId="{9DFBE5A5-3284-4206-8D60-0DBB2FB21F4F}" sibTransId="{154E4618-F772-42A8-9D90-2BA710F1A860}"/>
    <dgm:cxn modelId="{92778965-67E3-449A-9942-CE0F6EB38044}" type="presOf" srcId="{98FF79BF-4131-49B9-BEE7-E9B580991F7E}" destId="{696ED264-3C98-4341-8066-2AF8D62CECF7}" srcOrd="0" destOrd="0" presId="urn:microsoft.com/office/officeart/2005/8/layout/vList2"/>
    <dgm:cxn modelId="{28DA4A49-CD9D-4DBB-9E76-9DA73FDBB203}" type="presOf" srcId="{6E429E47-AF6C-48C8-8E3F-992ED3C73A8B}" destId="{B206FFB9-F50D-4AE6-B468-DBCB90634CDE}" srcOrd="0" destOrd="0" presId="urn:microsoft.com/office/officeart/2005/8/layout/vList2"/>
    <dgm:cxn modelId="{A0A84CA2-77A1-425A-B633-026D96556D58}" type="presOf" srcId="{35325AD1-E1CB-480A-B12D-51E74F038DC5}" destId="{178C8643-C745-4D7D-9D18-35BA3C421641}" srcOrd="0" destOrd="0" presId="urn:microsoft.com/office/officeart/2005/8/layout/vList2"/>
    <dgm:cxn modelId="{FE40C7A5-B29B-4265-BE4D-8B6AEA725D5A}" srcId="{98FF79BF-4131-49B9-BEE7-E9B580991F7E}" destId="{880162DD-C077-4CC1-A3D6-DBF82A2AA725}" srcOrd="2" destOrd="0" parTransId="{B7F207CC-85AE-41C7-9562-6EDDA73E7C13}" sibTransId="{D1B694CB-AEA4-42E3-B4A6-967BA7949778}"/>
    <dgm:cxn modelId="{625C45BD-0B66-4022-91DA-7DFD0037D61F}" srcId="{98FF79BF-4131-49B9-BEE7-E9B580991F7E}" destId="{35325AD1-E1CB-480A-B12D-51E74F038DC5}" srcOrd="1" destOrd="0" parTransId="{74E2E92F-A46D-4419-8886-225FE4A1565C}" sibTransId="{3695BA8C-0251-468B-8797-99A0AEAB2A42}"/>
    <dgm:cxn modelId="{E4CE02C0-4600-4ADB-A27C-1962F3BA6B0A}" srcId="{98FF79BF-4131-49B9-BEE7-E9B580991F7E}" destId="{6E429E47-AF6C-48C8-8E3F-992ED3C73A8B}" srcOrd="0" destOrd="0" parTransId="{7916A4DF-E01B-4716-92D4-6082903D4320}" sibTransId="{E48801F0-F0FC-44B8-A0A6-B56BDED15DF8}"/>
    <dgm:cxn modelId="{44557EDD-D22E-400B-82CC-A43A733FBBD4}" type="presOf" srcId="{553B005A-C7E6-4B06-97BF-C6BCE8B0E3F5}" destId="{2C695014-F197-445C-BCF5-7C264228F897}" srcOrd="0" destOrd="0" presId="urn:microsoft.com/office/officeart/2005/8/layout/vList2"/>
    <dgm:cxn modelId="{8D28B1E4-62FF-4235-BD92-5347EA5B053D}" type="presOf" srcId="{880162DD-C077-4CC1-A3D6-DBF82A2AA725}" destId="{4D0E88BA-424D-425B-9A5C-DDBAE27BE575}" srcOrd="0" destOrd="0" presId="urn:microsoft.com/office/officeart/2005/8/layout/vList2"/>
    <dgm:cxn modelId="{3C674834-2501-4450-8E76-2D336B779AD5}" type="presParOf" srcId="{696ED264-3C98-4341-8066-2AF8D62CECF7}" destId="{B206FFB9-F50D-4AE6-B468-DBCB90634CDE}" srcOrd="0" destOrd="0" presId="urn:microsoft.com/office/officeart/2005/8/layout/vList2"/>
    <dgm:cxn modelId="{7AA1ECA6-5FEB-4CD3-B778-62FFD4E21258}" type="presParOf" srcId="{696ED264-3C98-4341-8066-2AF8D62CECF7}" destId="{3064A8A0-5C68-4D62-BD5C-E8C296AC1285}" srcOrd="1" destOrd="0" presId="urn:microsoft.com/office/officeart/2005/8/layout/vList2"/>
    <dgm:cxn modelId="{136EA9AC-F7B7-404A-B576-BD6F64B72721}" type="presParOf" srcId="{696ED264-3C98-4341-8066-2AF8D62CECF7}" destId="{178C8643-C745-4D7D-9D18-35BA3C421641}" srcOrd="2" destOrd="0" presId="urn:microsoft.com/office/officeart/2005/8/layout/vList2"/>
    <dgm:cxn modelId="{FDECC8B3-AA4E-401E-BDB7-9FD4722D3840}" type="presParOf" srcId="{696ED264-3C98-4341-8066-2AF8D62CECF7}" destId="{304F8126-B020-43CA-9867-4B6D3B28BA01}" srcOrd="3" destOrd="0" presId="urn:microsoft.com/office/officeart/2005/8/layout/vList2"/>
    <dgm:cxn modelId="{256B131B-3620-45BA-8515-E6C67B67AD4A}" type="presParOf" srcId="{696ED264-3C98-4341-8066-2AF8D62CECF7}" destId="{4D0E88BA-424D-425B-9A5C-DDBAE27BE575}" srcOrd="4" destOrd="0" presId="urn:microsoft.com/office/officeart/2005/8/layout/vList2"/>
    <dgm:cxn modelId="{94D8CB21-4744-47AC-9B72-F86119E8DD96}" type="presParOf" srcId="{696ED264-3C98-4341-8066-2AF8D62CECF7}" destId="{DB05F341-61F9-4304-8954-8C59B158198D}" srcOrd="5" destOrd="0" presId="urn:microsoft.com/office/officeart/2005/8/layout/vList2"/>
    <dgm:cxn modelId="{C23EFACF-33C9-4343-9621-05F26B21D2B3}" type="presParOf" srcId="{696ED264-3C98-4341-8066-2AF8D62CECF7}" destId="{2C695014-F197-445C-BCF5-7C264228F89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00BEE6-A434-49B5-9A08-E80485CB449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8FBEB44-5198-4D8D-B8D3-2B2086910E9F}">
      <dgm:prSet/>
      <dgm:spPr/>
      <dgm:t>
        <a:bodyPr/>
        <a:lstStyle/>
        <a:p>
          <a:r>
            <a:rPr lang="en-US"/>
            <a:t>GOSS (Gradient-based One-Side Sampling): Muestrea inteligentemente los datos</a:t>
          </a:r>
        </a:p>
      </dgm:t>
    </dgm:pt>
    <dgm:pt modelId="{F93F8645-89C8-468C-84A6-69C4347FEEB2}" type="parTrans" cxnId="{EA1B2514-CEA4-42A0-8EFA-0482D174541B}">
      <dgm:prSet/>
      <dgm:spPr/>
      <dgm:t>
        <a:bodyPr/>
        <a:lstStyle/>
        <a:p>
          <a:endParaRPr lang="en-US"/>
        </a:p>
      </dgm:t>
    </dgm:pt>
    <dgm:pt modelId="{37145044-172E-497E-9D3C-5403E280611B}" type="sibTrans" cxnId="{EA1B2514-CEA4-42A0-8EFA-0482D174541B}">
      <dgm:prSet/>
      <dgm:spPr/>
      <dgm:t>
        <a:bodyPr/>
        <a:lstStyle/>
        <a:p>
          <a:endParaRPr lang="en-US"/>
        </a:p>
      </dgm:t>
    </dgm:pt>
    <dgm:pt modelId="{3D230810-6B0A-49E2-B705-B83D5E4FE91A}">
      <dgm:prSet/>
      <dgm:spPr/>
      <dgm:t>
        <a:bodyPr/>
        <a:lstStyle/>
        <a:p>
          <a:r>
            <a:rPr lang="en-US"/>
            <a:t>EFB (Exclusive Feature Bundling): Agrupa features correlacionados</a:t>
          </a:r>
        </a:p>
      </dgm:t>
    </dgm:pt>
    <dgm:pt modelId="{89197D1B-EB63-434E-8030-651178E32975}" type="parTrans" cxnId="{1A3E7342-4760-4BAB-A567-3E44A15FDE2C}">
      <dgm:prSet/>
      <dgm:spPr/>
      <dgm:t>
        <a:bodyPr/>
        <a:lstStyle/>
        <a:p>
          <a:endParaRPr lang="en-US"/>
        </a:p>
      </dgm:t>
    </dgm:pt>
    <dgm:pt modelId="{027C2F9C-8B6C-4557-AD47-24412D06B3DC}" type="sibTrans" cxnId="{1A3E7342-4760-4BAB-A567-3E44A15FDE2C}">
      <dgm:prSet/>
      <dgm:spPr/>
      <dgm:t>
        <a:bodyPr/>
        <a:lstStyle/>
        <a:p>
          <a:endParaRPr lang="en-US"/>
        </a:p>
      </dgm:t>
    </dgm:pt>
    <dgm:pt modelId="{B7ABFDB1-F28A-404C-8862-A50641E38784}">
      <dgm:prSet/>
      <dgm:spPr/>
      <dgm:t>
        <a:bodyPr/>
        <a:lstStyle/>
        <a:p>
          <a:r>
            <a:rPr lang="en-US"/>
            <a:t>Leaf-wise growth: Crece el arbol por hoja mas prometedora (vs level-wise)</a:t>
          </a:r>
        </a:p>
      </dgm:t>
    </dgm:pt>
    <dgm:pt modelId="{22AE130E-860E-4021-B5F1-ADBFD2EF1E86}" type="parTrans" cxnId="{F9CA8AFA-6245-457E-A3AF-DD5D5E95A7CD}">
      <dgm:prSet/>
      <dgm:spPr/>
      <dgm:t>
        <a:bodyPr/>
        <a:lstStyle/>
        <a:p>
          <a:endParaRPr lang="en-US"/>
        </a:p>
      </dgm:t>
    </dgm:pt>
    <dgm:pt modelId="{9D4E5E26-966E-4F8E-89B2-8565B5A5A4FF}" type="sibTrans" cxnId="{F9CA8AFA-6245-457E-A3AF-DD5D5E95A7CD}">
      <dgm:prSet/>
      <dgm:spPr/>
      <dgm:t>
        <a:bodyPr/>
        <a:lstStyle/>
        <a:p>
          <a:endParaRPr lang="en-US"/>
        </a:p>
      </dgm:t>
    </dgm:pt>
    <dgm:pt modelId="{B6698259-05B3-4666-842E-F13FD07CF956}">
      <dgm:prSet/>
      <dgm:spPr/>
      <dgm:t>
        <a:bodyPr/>
        <a:lstStyle/>
        <a:p>
          <a:r>
            <a:rPr lang="en-US"/>
            <a:t>Histograms: Agrupa valores continuos en bins para acelerar busqueda de splits</a:t>
          </a:r>
        </a:p>
      </dgm:t>
    </dgm:pt>
    <dgm:pt modelId="{165A8C43-61C9-434A-89BC-AFC0C88D5879}" type="parTrans" cxnId="{83BCA93E-D1C7-4CD9-94CC-A67DD0C86540}">
      <dgm:prSet/>
      <dgm:spPr/>
      <dgm:t>
        <a:bodyPr/>
        <a:lstStyle/>
        <a:p>
          <a:endParaRPr lang="en-US"/>
        </a:p>
      </dgm:t>
    </dgm:pt>
    <dgm:pt modelId="{41699DBA-D2D8-42BF-8D66-2B06E580276B}" type="sibTrans" cxnId="{83BCA93E-D1C7-4CD9-94CC-A67DD0C86540}">
      <dgm:prSet/>
      <dgm:spPr/>
      <dgm:t>
        <a:bodyPr/>
        <a:lstStyle/>
        <a:p>
          <a:endParaRPr lang="en-US"/>
        </a:p>
      </dgm:t>
    </dgm:pt>
    <dgm:pt modelId="{E6B9B86D-5F8A-4B98-B785-D84A886E5420}" type="pres">
      <dgm:prSet presAssocID="{E600BEE6-A434-49B5-9A08-E80485CB4493}" presName="linear" presStyleCnt="0">
        <dgm:presLayoutVars>
          <dgm:animLvl val="lvl"/>
          <dgm:resizeHandles val="exact"/>
        </dgm:presLayoutVars>
      </dgm:prSet>
      <dgm:spPr/>
    </dgm:pt>
    <dgm:pt modelId="{1751537E-7104-4B67-AFC8-2A5F300FF0DD}" type="pres">
      <dgm:prSet presAssocID="{C8FBEB44-5198-4D8D-B8D3-2B2086910E9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9E7975-8B81-4933-BD00-8E47F2CA1510}" type="pres">
      <dgm:prSet presAssocID="{37145044-172E-497E-9D3C-5403E280611B}" presName="spacer" presStyleCnt="0"/>
      <dgm:spPr/>
    </dgm:pt>
    <dgm:pt modelId="{E0B83FB7-1002-4605-B804-2FB824DDEAA3}" type="pres">
      <dgm:prSet presAssocID="{3D230810-6B0A-49E2-B705-B83D5E4FE9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3E5E08-9961-4D4E-B935-DC03B7C730EE}" type="pres">
      <dgm:prSet presAssocID="{027C2F9C-8B6C-4557-AD47-24412D06B3DC}" presName="spacer" presStyleCnt="0"/>
      <dgm:spPr/>
    </dgm:pt>
    <dgm:pt modelId="{3674C8D0-F3D1-4A90-8EAA-715CF56D9286}" type="pres">
      <dgm:prSet presAssocID="{B7ABFDB1-F28A-404C-8862-A50641E387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C67D51-061F-41C3-A0DA-A4FA4F10640B}" type="pres">
      <dgm:prSet presAssocID="{9D4E5E26-966E-4F8E-89B2-8565B5A5A4FF}" presName="spacer" presStyleCnt="0"/>
      <dgm:spPr/>
    </dgm:pt>
    <dgm:pt modelId="{7310824E-2BBB-49CE-A761-A70429F19964}" type="pres">
      <dgm:prSet presAssocID="{B6698259-05B3-4666-842E-F13FD07CF9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1B2514-CEA4-42A0-8EFA-0482D174541B}" srcId="{E600BEE6-A434-49B5-9A08-E80485CB4493}" destId="{C8FBEB44-5198-4D8D-B8D3-2B2086910E9F}" srcOrd="0" destOrd="0" parTransId="{F93F8645-89C8-468C-84A6-69C4347FEEB2}" sibTransId="{37145044-172E-497E-9D3C-5403E280611B}"/>
    <dgm:cxn modelId="{83BCA93E-D1C7-4CD9-94CC-A67DD0C86540}" srcId="{E600BEE6-A434-49B5-9A08-E80485CB4493}" destId="{B6698259-05B3-4666-842E-F13FD07CF956}" srcOrd="3" destOrd="0" parTransId="{165A8C43-61C9-434A-89BC-AFC0C88D5879}" sibTransId="{41699DBA-D2D8-42BF-8D66-2B06E580276B}"/>
    <dgm:cxn modelId="{1A3E7342-4760-4BAB-A567-3E44A15FDE2C}" srcId="{E600BEE6-A434-49B5-9A08-E80485CB4493}" destId="{3D230810-6B0A-49E2-B705-B83D5E4FE91A}" srcOrd="1" destOrd="0" parTransId="{89197D1B-EB63-434E-8030-651178E32975}" sibTransId="{027C2F9C-8B6C-4557-AD47-24412D06B3DC}"/>
    <dgm:cxn modelId="{5AEC434B-C0B8-400A-ADC4-E19F9B357F23}" type="presOf" srcId="{B6698259-05B3-4666-842E-F13FD07CF956}" destId="{7310824E-2BBB-49CE-A761-A70429F19964}" srcOrd="0" destOrd="0" presId="urn:microsoft.com/office/officeart/2005/8/layout/vList2"/>
    <dgm:cxn modelId="{46B3884C-D5F2-4E09-A1C8-81A82699214B}" type="presOf" srcId="{B7ABFDB1-F28A-404C-8862-A50641E38784}" destId="{3674C8D0-F3D1-4A90-8EAA-715CF56D9286}" srcOrd="0" destOrd="0" presId="urn:microsoft.com/office/officeart/2005/8/layout/vList2"/>
    <dgm:cxn modelId="{8A70D186-EDE7-413F-B4A9-C58D37A040F7}" type="presOf" srcId="{3D230810-6B0A-49E2-B705-B83D5E4FE91A}" destId="{E0B83FB7-1002-4605-B804-2FB824DDEAA3}" srcOrd="0" destOrd="0" presId="urn:microsoft.com/office/officeart/2005/8/layout/vList2"/>
    <dgm:cxn modelId="{876B4F96-FB0F-4412-8829-75D5EF0E7742}" type="presOf" srcId="{C8FBEB44-5198-4D8D-B8D3-2B2086910E9F}" destId="{1751537E-7104-4B67-AFC8-2A5F300FF0DD}" srcOrd="0" destOrd="0" presId="urn:microsoft.com/office/officeart/2005/8/layout/vList2"/>
    <dgm:cxn modelId="{8AF013A5-5E82-47E5-9DB1-4103DD04C428}" type="presOf" srcId="{E600BEE6-A434-49B5-9A08-E80485CB4493}" destId="{E6B9B86D-5F8A-4B98-B785-D84A886E5420}" srcOrd="0" destOrd="0" presId="urn:microsoft.com/office/officeart/2005/8/layout/vList2"/>
    <dgm:cxn modelId="{F9CA8AFA-6245-457E-A3AF-DD5D5E95A7CD}" srcId="{E600BEE6-A434-49B5-9A08-E80485CB4493}" destId="{B7ABFDB1-F28A-404C-8862-A50641E38784}" srcOrd="2" destOrd="0" parTransId="{22AE130E-860E-4021-B5F1-ADBFD2EF1E86}" sibTransId="{9D4E5E26-966E-4F8E-89B2-8565B5A5A4FF}"/>
    <dgm:cxn modelId="{BED87831-D958-4E83-B49D-C3E824080913}" type="presParOf" srcId="{E6B9B86D-5F8A-4B98-B785-D84A886E5420}" destId="{1751537E-7104-4B67-AFC8-2A5F300FF0DD}" srcOrd="0" destOrd="0" presId="urn:microsoft.com/office/officeart/2005/8/layout/vList2"/>
    <dgm:cxn modelId="{ED4259B1-B4E8-4FF8-A173-EC830415E749}" type="presParOf" srcId="{E6B9B86D-5F8A-4B98-B785-D84A886E5420}" destId="{0B9E7975-8B81-4933-BD00-8E47F2CA1510}" srcOrd="1" destOrd="0" presId="urn:microsoft.com/office/officeart/2005/8/layout/vList2"/>
    <dgm:cxn modelId="{55FF360C-30F7-4F67-B87E-4BAAAA92C5CD}" type="presParOf" srcId="{E6B9B86D-5F8A-4B98-B785-D84A886E5420}" destId="{E0B83FB7-1002-4605-B804-2FB824DDEAA3}" srcOrd="2" destOrd="0" presId="urn:microsoft.com/office/officeart/2005/8/layout/vList2"/>
    <dgm:cxn modelId="{BAB3CDE5-E7B4-4A4D-A73A-F7AC3849387B}" type="presParOf" srcId="{E6B9B86D-5F8A-4B98-B785-D84A886E5420}" destId="{ED3E5E08-9961-4D4E-B935-DC03B7C730EE}" srcOrd="3" destOrd="0" presId="urn:microsoft.com/office/officeart/2005/8/layout/vList2"/>
    <dgm:cxn modelId="{7E2813E6-1FA3-4ACF-83F0-F50676740103}" type="presParOf" srcId="{E6B9B86D-5F8A-4B98-B785-D84A886E5420}" destId="{3674C8D0-F3D1-4A90-8EAA-715CF56D9286}" srcOrd="4" destOrd="0" presId="urn:microsoft.com/office/officeart/2005/8/layout/vList2"/>
    <dgm:cxn modelId="{FA6141CA-55E1-4E5E-9239-28116AAF4415}" type="presParOf" srcId="{E6B9B86D-5F8A-4B98-B785-D84A886E5420}" destId="{82C67D51-061F-41C3-A0DA-A4FA4F10640B}" srcOrd="5" destOrd="0" presId="urn:microsoft.com/office/officeart/2005/8/layout/vList2"/>
    <dgm:cxn modelId="{4FB939E6-08A5-4D32-A0CE-C8FA96275526}" type="presParOf" srcId="{E6B9B86D-5F8A-4B98-B785-D84A886E5420}" destId="{7310824E-2BBB-49CE-A761-A70429F1996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45143B-EFB6-4614-B2E0-8B8FC874CFB6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52476A1-6370-4C18-A4E3-28FD644A4420}">
      <dgm:prSet/>
      <dgm:spPr/>
      <dgm:t>
        <a:bodyPr/>
        <a:lstStyle/>
        <a:p>
          <a:r>
            <a:rPr lang="en-US"/>
            <a:t>IDEAL PARA: Datasets grandes (&gt;100K registros), muchas features (&gt;100), necesidad de velocidad</a:t>
          </a:r>
        </a:p>
      </dgm:t>
    </dgm:pt>
    <dgm:pt modelId="{5F034955-43D6-4302-ACA2-AD0F2F5B1A67}" type="parTrans" cxnId="{F33F7611-130C-474F-88B5-158F21060C64}">
      <dgm:prSet/>
      <dgm:spPr/>
      <dgm:t>
        <a:bodyPr/>
        <a:lstStyle/>
        <a:p>
          <a:endParaRPr lang="en-US"/>
        </a:p>
      </dgm:t>
    </dgm:pt>
    <dgm:pt modelId="{87EF5A59-6D35-465D-A75D-AFA33243EE14}" type="sibTrans" cxnId="{F33F7611-130C-474F-88B5-158F21060C64}">
      <dgm:prSet/>
      <dgm:spPr/>
      <dgm:t>
        <a:bodyPr/>
        <a:lstStyle/>
        <a:p>
          <a:endParaRPr lang="en-US"/>
        </a:p>
      </dgm:t>
    </dgm:pt>
    <dgm:pt modelId="{8C1A9EC9-DD03-46C2-A5DB-84524A9DD469}">
      <dgm:prSet/>
      <dgm:spPr/>
      <dgm:t>
        <a:bodyPr/>
        <a:lstStyle/>
        <a:p>
          <a:r>
            <a:rPr lang="en-US"/>
            <a:t>COMPETICIONES KAGGLE: Uno de los algoritmos mas ganadores (junto con XGBoost y CatBoost)</a:t>
          </a:r>
        </a:p>
      </dgm:t>
    </dgm:pt>
    <dgm:pt modelId="{0147E046-2A68-40C0-B4A7-40E744741E99}" type="parTrans" cxnId="{A5FFE45B-50A8-4EB9-99F7-FF19DDD949CA}">
      <dgm:prSet/>
      <dgm:spPr/>
      <dgm:t>
        <a:bodyPr/>
        <a:lstStyle/>
        <a:p>
          <a:endParaRPr lang="en-US"/>
        </a:p>
      </dgm:t>
    </dgm:pt>
    <dgm:pt modelId="{7595A670-F171-4BA4-AB5D-DFF0F30C47E8}" type="sibTrans" cxnId="{A5FFE45B-50A8-4EB9-99F7-FF19DDD949CA}">
      <dgm:prSet/>
      <dgm:spPr/>
      <dgm:t>
        <a:bodyPr/>
        <a:lstStyle/>
        <a:p>
          <a:endParaRPr lang="en-US"/>
        </a:p>
      </dgm:t>
    </dgm:pt>
    <dgm:pt modelId="{D7E76B61-9D4A-447E-8398-00D77EEB6526}">
      <dgm:prSet/>
      <dgm:spPr/>
      <dgm:t>
        <a:bodyPr/>
        <a:lstStyle/>
        <a:p>
          <a:r>
            <a:rPr lang="en-US"/>
            <a:t>PRODUCCION: Entrenamiento rapido para reentrenamiento frecuente</a:t>
          </a:r>
        </a:p>
      </dgm:t>
    </dgm:pt>
    <dgm:pt modelId="{173F59A7-F444-4ECE-9A90-F94B276D11F8}" type="parTrans" cxnId="{92E9D3C8-A57D-44CE-86C5-C1E5ACDF806B}">
      <dgm:prSet/>
      <dgm:spPr/>
      <dgm:t>
        <a:bodyPr/>
        <a:lstStyle/>
        <a:p>
          <a:endParaRPr lang="en-US"/>
        </a:p>
      </dgm:t>
    </dgm:pt>
    <dgm:pt modelId="{9FEFBA04-EA62-4F82-900A-590F6E9C709C}" type="sibTrans" cxnId="{92E9D3C8-A57D-44CE-86C5-C1E5ACDF806B}">
      <dgm:prSet/>
      <dgm:spPr/>
      <dgm:t>
        <a:bodyPr/>
        <a:lstStyle/>
        <a:p>
          <a:endParaRPr lang="en-US"/>
        </a:p>
      </dgm:t>
    </dgm:pt>
    <dgm:pt modelId="{EE23D7AD-45EF-454C-98B5-10C3B52A3DFC}">
      <dgm:prSet/>
      <dgm:spPr/>
      <dgm:t>
        <a:bodyPr/>
        <a:lstStyle/>
        <a:p>
          <a:r>
            <a:rPr lang="en-US"/>
            <a:t>EVITAR EN: Datasets muy pequenos (&lt;10K), cuando interpretabilidad es critica, datos muy ruidosos</a:t>
          </a:r>
        </a:p>
      </dgm:t>
    </dgm:pt>
    <dgm:pt modelId="{5045AA4A-0C2F-4FC8-8E7E-B296201BD5AD}" type="parTrans" cxnId="{78C8AC50-ED44-42D2-9844-161442151970}">
      <dgm:prSet/>
      <dgm:spPr/>
      <dgm:t>
        <a:bodyPr/>
        <a:lstStyle/>
        <a:p>
          <a:endParaRPr lang="en-US"/>
        </a:p>
      </dgm:t>
    </dgm:pt>
    <dgm:pt modelId="{0E7425F8-39FB-4223-A501-00C0A9B25010}" type="sibTrans" cxnId="{78C8AC50-ED44-42D2-9844-161442151970}">
      <dgm:prSet/>
      <dgm:spPr/>
      <dgm:t>
        <a:bodyPr/>
        <a:lstStyle/>
        <a:p>
          <a:endParaRPr lang="en-US"/>
        </a:p>
      </dgm:t>
    </dgm:pt>
    <dgm:pt modelId="{511C3ED9-3DB2-4C0D-B8D0-9ABB88C73E37}" type="pres">
      <dgm:prSet presAssocID="{2245143B-EFB6-4614-B2E0-8B8FC874CFB6}" presName="vert0" presStyleCnt="0">
        <dgm:presLayoutVars>
          <dgm:dir/>
          <dgm:animOne val="branch"/>
          <dgm:animLvl val="lvl"/>
        </dgm:presLayoutVars>
      </dgm:prSet>
      <dgm:spPr/>
    </dgm:pt>
    <dgm:pt modelId="{D67A581C-347D-4124-9986-628B56077AEB}" type="pres">
      <dgm:prSet presAssocID="{F52476A1-6370-4C18-A4E3-28FD644A4420}" presName="thickLine" presStyleLbl="alignNode1" presStyleIdx="0" presStyleCnt="4"/>
      <dgm:spPr/>
    </dgm:pt>
    <dgm:pt modelId="{D14C6041-E963-49BE-8A68-D3A81FD94A50}" type="pres">
      <dgm:prSet presAssocID="{F52476A1-6370-4C18-A4E3-28FD644A4420}" presName="horz1" presStyleCnt="0"/>
      <dgm:spPr/>
    </dgm:pt>
    <dgm:pt modelId="{A2CFC363-1CEB-496B-80D0-63CB972EF37F}" type="pres">
      <dgm:prSet presAssocID="{F52476A1-6370-4C18-A4E3-28FD644A4420}" presName="tx1" presStyleLbl="revTx" presStyleIdx="0" presStyleCnt="4"/>
      <dgm:spPr/>
    </dgm:pt>
    <dgm:pt modelId="{E093F6A0-522A-448B-86AD-6C97F8A8A339}" type="pres">
      <dgm:prSet presAssocID="{F52476A1-6370-4C18-A4E3-28FD644A4420}" presName="vert1" presStyleCnt="0"/>
      <dgm:spPr/>
    </dgm:pt>
    <dgm:pt modelId="{24E53957-7A3F-4165-A72E-DBDFF590415B}" type="pres">
      <dgm:prSet presAssocID="{8C1A9EC9-DD03-46C2-A5DB-84524A9DD469}" presName="thickLine" presStyleLbl="alignNode1" presStyleIdx="1" presStyleCnt="4"/>
      <dgm:spPr/>
    </dgm:pt>
    <dgm:pt modelId="{0BDEF098-3076-4F2C-B9CC-BABAC7B66560}" type="pres">
      <dgm:prSet presAssocID="{8C1A9EC9-DD03-46C2-A5DB-84524A9DD469}" presName="horz1" presStyleCnt="0"/>
      <dgm:spPr/>
    </dgm:pt>
    <dgm:pt modelId="{D37931F9-DC85-423D-AE4B-AC8C96E69869}" type="pres">
      <dgm:prSet presAssocID="{8C1A9EC9-DD03-46C2-A5DB-84524A9DD469}" presName="tx1" presStyleLbl="revTx" presStyleIdx="1" presStyleCnt="4"/>
      <dgm:spPr/>
    </dgm:pt>
    <dgm:pt modelId="{1B18F682-2071-4FE1-B75D-1DF071501CAA}" type="pres">
      <dgm:prSet presAssocID="{8C1A9EC9-DD03-46C2-A5DB-84524A9DD469}" presName="vert1" presStyleCnt="0"/>
      <dgm:spPr/>
    </dgm:pt>
    <dgm:pt modelId="{781B5426-9F9D-4FAF-B582-D0F905E217D8}" type="pres">
      <dgm:prSet presAssocID="{D7E76B61-9D4A-447E-8398-00D77EEB6526}" presName="thickLine" presStyleLbl="alignNode1" presStyleIdx="2" presStyleCnt="4"/>
      <dgm:spPr/>
    </dgm:pt>
    <dgm:pt modelId="{B5F767C7-A0E6-4662-8550-2A27076843E6}" type="pres">
      <dgm:prSet presAssocID="{D7E76B61-9D4A-447E-8398-00D77EEB6526}" presName="horz1" presStyleCnt="0"/>
      <dgm:spPr/>
    </dgm:pt>
    <dgm:pt modelId="{C53D543D-F2C5-4D04-9BAB-3694EA87DBDF}" type="pres">
      <dgm:prSet presAssocID="{D7E76B61-9D4A-447E-8398-00D77EEB6526}" presName="tx1" presStyleLbl="revTx" presStyleIdx="2" presStyleCnt="4"/>
      <dgm:spPr/>
    </dgm:pt>
    <dgm:pt modelId="{685300BB-2FEE-4A98-B87F-CA60F6AFF164}" type="pres">
      <dgm:prSet presAssocID="{D7E76B61-9D4A-447E-8398-00D77EEB6526}" presName="vert1" presStyleCnt="0"/>
      <dgm:spPr/>
    </dgm:pt>
    <dgm:pt modelId="{D35C3C1F-C252-48A8-9D80-588B65C1A44C}" type="pres">
      <dgm:prSet presAssocID="{EE23D7AD-45EF-454C-98B5-10C3B52A3DFC}" presName="thickLine" presStyleLbl="alignNode1" presStyleIdx="3" presStyleCnt="4"/>
      <dgm:spPr/>
    </dgm:pt>
    <dgm:pt modelId="{C76E23E2-FB13-441B-B721-ADFFF487AD0E}" type="pres">
      <dgm:prSet presAssocID="{EE23D7AD-45EF-454C-98B5-10C3B52A3DFC}" presName="horz1" presStyleCnt="0"/>
      <dgm:spPr/>
    </dgm:pt>
    <dgm:pt modelId="{14B37256-F3D2-4798-96FD-35735026CF49}" type="pres">
      <dgm:prSet presAssocID="{EE23D7AD-45EF-454C-98B5-10C3B52A3DFC}" presName="tx1" presStyleLbl="revTx" presStyleIdx="3" presStyleCnt="4"/>
      <dgm:spPr/>
    </dgm:pt>
    <dgm:pt modelId="{1A64963B-21EA-48FD-8B4D-E65E9209B138}" type="pres">
      <dgm:prSet presAssocID="{EE23D7AD-45EF-454C-98B5-10C3B52A3DFC}" presName="vert1" presStyleCnt="0"/>
      <dgm:spPr/>
    </dgm:pt>
  </dgm:ptLst>
  <dgm:cxnLst>
    <dgm:cxn modelId="{F33F7611-130C-474F-88B5-158F21060C64}" srcId="{2245143B-EFB6-4614-B2E0-8B8FC874CFB6}" destId="{F52476A1-6370-4C18-A4E3-28FD644A4420}" srcOrd="0" destOrd="0" parTransId="{5F034955-43D6-4302-ACA2-AD0F2F5B1A67}" sibTransId="{87EF5A59-6D35-465D-A75D-AFA33243EE14}"/>
    <dgm:cxn modelId="{358BD729-D1BE-4DCD-B3E8-EFA3326BB34B}" type="presOf" srcId="{F52476A1-6370-4C18-A4E3-28FD644A4420}" destId="{A2CFC363-1CEB-496B-80D0-63CB972EF37F}" srcOrd="0" destOrd="0" presId="urn:microsoft.com/office/officeart/2008/layout/LinedList"/>
    <dgm:cxn modelId="{5CF0EA32-B3E7-4176-A4FE-6F29EAD75DB1}" type="presOf" srcId="{2245143B-EFB6-4614-B2E0-8B8FC874CFB6}" destId="{511C3ED9-3DB2-4C0D-B8D0-9ABB88C73E37}" srcOrd="0" destOrd="0" presId="urn:microsoft.com/office/officeart/2008/layout/LinedList"/>
    <dgm:cxn modelId="{A5FFE45B-50A8-4EB9-99F7-FF19DDD949CA}" srcId="{2245143B-EFB6-4614-B2E0-8B8FC874CFB6}" destId="{8C1A9EC9-DD03-46C2-A5DB-84524A9DD469}" srcOrd="1" destOrd="0" parTransId="{0147E046-2A68-40C0-B4A7-40E744741E99}" sibTransId="{7595A670-F171-4BA4-AB5D-DFF0F30C47E8}"/>
    <dgm:cxn modelId="{2FC49C47-E8CF-44EE-84CE-550CD4597F90}" type="presOf" srcId="{D7E76B61-9D4A-447E-8398-00D77EEB6526}" destId="{C53D543D-F2C5-4D04-9BAB-3694EA87DBDF}" srcOrd="0" destOrd="0" presId="urn:microsoft.com/office/officeart/2008/layout/LinedList"/>
    <dgm:cxn modelId="{D91AA150-3D1A-4B11-AB0A-55497998BCDD}" type="presOf" srcId="{EE23D7AD-45EF-454C-98B5-10C3B52A3DFC}" destId="{14B37256-F3D2-4798-96FD-35735026CF49}" srcOrd="0" destOrd="0" presId="urn:microsoft.com/office/officeart/2008/layout/LinedList"/>
    <dgm:cxn modelId="{78C8AC50-ED44-42D2-9844-161442151970}" srcId="{2245143B-EFB6-4614-B2E0-8B8FC874CFB6}" destId="{EE23D7AD-45EF-454C-98B5-10C3B52A3DFC}" srcOrd="3" destOrd="0" parTransId="{5045AA4A-0C2F-4FC8-8E7E-B296201BD5AD}" sibTransId="{0E7425F8-39FB-4223-A501-00C0A9B25010}"/>
    <dgm:cxn modelId="{92E9D3C8-A57D-44CE-86C5-C1E5ACDF806B}" srcId="{2245143B-EFB6-4614-B2E0-8B8FC874CFB6}" destId="{D7E76B61-9D4A-447E-8398-00D77EEB6526}" srcOrd="2" destOrd="0" parTransId="{173F59A7-F444-4ECE-9A90-F94B276D11F8}" sibTransId="{9FEFBA04-EA62-4F82-900A-590F6E9C709C}"/>
    <dgm:cxn modelId="{935308DE-392B-4033-A973-DFEC81292F23}" type="presOf" srcId="{8C1A9EC9-DD03-46C2-A5DB-84524A9DD469}" destId="{D37931F9-DC85-423D-AE4B-AC8C96E69869}" srcOrd="0" destOrd="0" presId="urn:microsoft.com/office/officeart/2008/layout/LinedList"/>
    <dgm:cxn modelId="{A4E43028-3DDE-480A-9796-EE9930913AF9}" type="presParOf" srcId="{511C3ED9-3DB2-4C0D-B8D0-9ABB88C73E37}" destId="{D67A581C-347D-4124-9986-628B56077AEB}" srcOrd="0" destOrd="0" presId="urn:microsoft.com/office/officeart/2008/layout/LinedList"/>
    <dgm:cxn modelId="{C88D6B89-CC96-4A31-97D2-778B02CB3139}" type="presParOf" srcId="{511C3ED9-3DB2-4C0D-B8D0-9ABB88C73E37}" destId="{D14C6041-E963-49BE-8A68-D3A81FD94A50}" srcOrd="1" destOrd="0" presId="urn:microsoft.com/office/officeart/2008/layout/LinedList"/>
    <dgm:cxn modelId="{D1990EFB-FBCE-4BF1-A9A9-DD1C8F69F86C}" type="presParOf" srcId="{D14C6041-E963-49BE-8A68-D3A81FD94A50}" destId="{A2CFC363-1CEB-496B-80D0-63CB972EF37F}" srcOrd="0" destOrd="0" presId="urn:microsoft.com/office/officeart/2008/layout/LinedList"/>
    <dgm:cxn modelId="{C20F8018-105D-4A2D-9298-F6EC1C33D848}" type="presParOf" srcId="{D14C6041-E963-49BE-8A68-D3A81FD94A50}" destId="{E093F6A0-522A-448B-86AD-6C97F8A8A339}" srcOrd="1" destOrd="0" presId="urn:microsoft.com/office/officeart/2008/layout/LinedList"/>
    <dgm:cxn modelId="{2EB13820-4233-40D2-AA7A-FC4FD1138D3B}" type="presParOf" srcId="{511C3ED9-3DB2-4C0D-B8D0-9ABB88C73E37}" destId="{24E53957-7A3F-4165-A72E-DBDFF590415B}" srcOrd="2" destOrd="0" presId="urn:microsoft.com/office/officeart/2008/layout/LinedList"/>
    <dgm:cxn modelId="{8D7155DB-3663-499D-9CCA-3943C2C38115}" type="presParOf" srcId="{511C3ED9-3DB2-4C0D-B8D0-9ABB88C73E37}" destId="{0BDEF098-3076-4F2C-B9CC-BABAC7B66560}" srcOrd="3" destOrd="0" presId="urn:microsoft.com/office/officeart/2008/layout/LinedList"/>
    <dgm:cxn modelId="{0DA8A122-578E-47FC-BFAB-08CA6A508C52}" type="presParOf" srcId="{0BDEF098-3076-4F2C-B9CC-BABAC7B66560}" destId="{D37931F9-DC85-423D-AE4B-AC8C96E69869}" srcOrd="0" destOrd="0" presId="urn:microsoft.com/office/officeart/2008/layout/LinedList"/>
    <dgm:cxn modelId="{319FD592-2239-4B22-B36C-72E7ABC33140}" type="presParOf" srcId="{0BDEF098-3076-4F2C-B9CC-BABAC7B66560}" destId="{1B18F682-2071-4FE1-B75D-1DF071501CAA}" srcOrd="1" destOrd="0" presId="urn:microsoft.com/office/officeart/2008/layout/LinedList"/>
    <dgm:cxn modelId="{5446DE5D-2848-4C92-80D2-735B1ACDA43A}" type="presParOf" srcId="{511C3ED9-3DB2-4C0D-B8D0-9ABB88C73E37}" destId="{781B5426-9F9D-4FAF-B582-D0F905E217D8}" srcOrd="4" destOrd="0" presId="urn:microsoft.com/office/officeart/2008/layout/LinedList"/>
    <dgm:cxn modelId="{7C489A57-9945-420C-95DF-300D489A47F3}" type="presParOf" srcId="{511C3ED9-3DB2-4C0D-B8D0-9ABB88C73E37}" destId="{B5F767C7-A0E6-4662-8550-2A27076843E6}" srcOrd="5" destOrd="0" presId="urn:microsoft.com/office/officeart/2008/layout/LinedList"/>
    <dgm:cxn modelId="{09B6365B-B8D6-458D-8AB9-6B211DA740E6}" type="presParOf" srcId="{B5F767C7-A0E6-4662-8550-2A27076843E6}" destId="{C53D543D-F2C5-4D04-9BAB-3694EA87DBDF}" srcOrd="0" destOrd="0" presId="urn:microsoft.com/office/officeart/2008/layout/LinedList"/>
    <dgm:cxn modelId="{DBE51417-D132-41A7-BC70-B2087DC6A018}" type="presParOf" srcId="{B5F767C7-A0E6-4662-8550-2A27076843E6}" destId="{685300BB-2FEE-4A98-B87F-CA60F6AFF164}" srcOrd="1" destOrd="0" presId="urn:microsoft.com/office/officeart/2008/layout/LinedList"/>
    <dgm:cxn modelId="{13532D3B-E5C1-4EC9-A310-01EF90B17577}" type="presParOf" srcId="{511C3ED9-3DB2-4C0D-B8D0-9ABB88C73E37}" destId="{D35C3C1F-C252-48A8-9D80-588B65C1A44C}" srcOrd="6" destOrd="0" presId="urn:microsoft.com/office/officeart/2008/layout/LinedList"/>
    <dgm:cxn modelId="{B8B1FF23-1D10-4D1A-9AC6-D02E6B023EF3}" type="presParOf" srcId="{511C3ED9-3DB2-4C0D-B8D0-9ABB88C73E37}" destId="{C76E23E2-FB13-441B-B721-ADFFF487AD0E}" srcOrd="7" destOrd="0" presId="urn:microsoft.com/office/officeart/2008/layout/LinedList"/>
    <dgm:cxn modelId="{1C834ED2-2948-4464-9C16-1D35BE227F6D}" type="presParOf" srcId="{C76E23E2-FB13-441B-B721-ADFFF487AD0E}" destId="{14B37256-F3D2-4798-96FD-35735026CF49}" srcOrd="0" destOrd="0" presId="urn:microsoft.com/office/officeart/2008/layout/LinedList"/>
    <dgm:cxn modelId="{B084EE42-A650-4E88-8E8E-6C6B09689A0E}" type="presParOf" srcId="{C76E23E2-FB13-441B-B721-ADFFF487AD0E}" destId="{1A64963B-21EA-48FD-8B4D-E65E9209B1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0BEB3-67EE-4B04-84EF-2E493315572A}">
      <dsp:nvSpPr>
        <dsp:cNvPr id="0" name=""/>
        <dsp:cNvSpPr/>
      </dsp:nvSpPr>
      <dsp:spPr>
        <a:xfrm>
          <a:off x="0" y="98059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Tecnica de ensamble que combina multiples modelos debiles (arboles) para crear un modelo fuerte</a:t>
          </a:r>
        </a:p>
      </dsp:txBody>
      <dsp:txXfrm>
        <a:off x="61741" y="159800"/>
        <a:ext cx="4876642" cy="1141288"/>
      </dsp:txXfrm>
    </dsp:sp>
    <dsp:sp modelId="{9EFCEF33-671F-40A3-8049-6831C28915C7}">
      <dsp:nvSpPr>
        <dsp:cNvPr id="0" name=""/>
        <dsp:cNvSpPr/>
      </dsp:nvSpPr>
      <dsp:spPr>
        <a:xfrm>
          <a:off x="0" y="1429069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Construye arboles de forma secuencial, donde cada nuevo arbol corrige los errores del conjunto anterior</a:t>
          </a:r>
        </a:p>
      </dsp:txBody>
      <dsp:txXfrm>
        <a:off x="61741" y="1490810"/>
        <a:ext cx="4876642" cy="1141288"/>
      </dsp:txXfrm>
    </dsp:sp>
    <dsp:sp modelId="{7CF5B47C-CD82-42A9-AD25-4A4B626CD67C}">
      <dsp:nvSpPr>
        <dsp:cNvPr id="0" name=""/>
        <dsp:cNvSpPr/>
      </dsp:nvSpPr>
      <dsp:spPr>
        <a:xfrm>
          <a:off x="0" y="2760080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Utiliza el gradiente de la funcion de perdida para determinar la direccion de mejora</a:t>
          </a:r>
        </a:p>
      </dsp:txBody>
      <dsp:txXfrm>
        <a:off x="61741" y="2821821"/>
        <a:ext cx="4876642" cy="1141288"/>
      </dsp:txXfrm>
    </dsp:sp>
    <dsp:sp modelId="{9EE5D922-E9AE-450B-BDE8-ED79F3F05E30}">
      <dsp:nvSpPr>
        <dsp:cNvPr id="0" name=""/>
        <dsp:cNvSpPr/>
      </dsp:nvSpPr>
      <dsp:spPr>
        <a:xfrm>
          <a:off x="0" y="4091090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Ejemplos: XGBoost, LightGBM, CatBoost, HistGradientBoosting</a:t>
          </a:r>
        </a:p>
      </dsp:txBody>
      <dsp:txXfrm>
        <a:off x="61741" y="4152831"/>
        <a:ext cx="4876642" cy="1141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06FFB9-F50D-4AE6-B468-DBCB90634CDE}">
      <dsp:nvSpPr>
        <dsp:cNvPr id="0" name=""/>
        <dsp:cNvSpPr/>
      </dsp:nvSpPr>
      <dsp:spPr>
        <a:xfrm>
          <a:off x="0" y="98059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Modelo que divide el espacio de features mediante reglas de decision binarias</a:t>
          </a:r>
        </a:p>
      </dsp:txBody>
      <dsp:txXfrm>
        <a:off x="61741" y="159800"/>
        <a:ext cx="4876642" cy="1141288"/>
      </dsp:txXfrm>
    </dsp:sp>
    <dsp:sp modelId="{178C8643-C745-4D7D-9D18-35BA3C421641}">
      <dsp:nvSpPr>
        <dsp:cNvPr id="0" name=""/>
        <dsp:cNvSpPr/>
      </dsp:nvSpPr>
      <dsp:spPr>
        <a:xfrm>
          <a:off x="0" y="1429069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Cada nodo interno representa una condicion (ej: 'edad &gt; 30')</a:t>
          </a:r>
        </a:p>
      </dsp:txBody>
      <dsp:txXfrm>
        <a:off x="61741" y="1490810"/>
        <a:ext cx="4876642" cy="1141288"/>
      </dsp:txXfrm>
    </dsp:sp>
    <dsp:sp modelId="{4D0E88BA-424D-425B-9A5C-DDBAE27BE575}">
      <dsp:nvSpPr>
        <dsp:cNvPr id="0" name=""/>
        <dsp:cNvSpPr/>
      </dsp:nvSpPr>
      <dsp:spPr>
        <a:xfrm>
          <a:off x="0" y="2760080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Cada hoja representa una prediccion (valor numerico para regresion)</a:t>
          </a:r>
        </a:p>
      </dsp:txBody>
      <dsp:txXfrm>
        <a:off x="61741" y="2821821"/>
        <a:ext cx="4876642" cy="1141288"/>
      </dsp:txXfrm>
    </dsp:sp>
    <dsp:sp modelId="{2C695014-F197-445C-BCF5-7C264228F897}">
      <dsp:nvSpPr>
        <dsp:cNvPr id="0" name=""/>
        <dsp:cNvSpPr/>
      </dsp:nvSpPr>
      <dsp:spPr>
        <a:xfrm>
          <a:off x="0" y="4091090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Los arboles debiles en boosting suelen ser poco profundos (depth=3-8)</a:t>
          </a:r>
        </a:p>
      </dsp:txBody>
      <dsp:txXfrm>
        <a:off x="61741" y="4152831"/>
        <a:ext cx="4876642" cy="11412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1537E-7104-4B67-AFC8-2A5F300FF0DD}">
      <dsp:nvSpPr>
        <dsp:cNvPr id="0" name=""/>
        <dsp:cNvSpPr/>
      </dsp:nvSpPr>
      <dsp:spPr>
        <a:xfrm>
          <a:off x="0" y="98059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GOSS (Gradient-based One-Side Sampling): Muestrea inteligentemente los datos</a:t>
          </a:r>
        </a:p>
      </dsp:txBody>
      <dsp:txXfrm>
        <a:off x="61741" y="159800"/>
        <a:ext cx="4876642" cy="1141288"/>
      </dsp:txXfrm>
    </dsp:sp>
    <dsp:sp modelId="{E0B83FB7-1002-4605-B804-2FB824DDEAA3}">
      <dsp:nvSpPr>
        <dsp:cNvPr id="0" name=""/>
        <dsp:cNvSpPr/>
      </dsp:nvSpPr>
      <dsp:spPr>
        <a:xfrm>
          <a:off x="0" y="1429069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EFB (Exclusive Feature Bundling): Agrupa features correlacionados</a:t>
          </a:r>
        </a:p>
      </dsp:txBody>
      <dsp:txXfrm>
        <a:off x="61741" y="1490810"/>
        <a:ext cx="4876642" cy="1141288"/>
      </dsp:txXfrm>
    </dsp:sp>
    <dsp:sp modelId="{3674C8D0-F3D1-4A90-8EAA-715CF56D9286}">
      <dsp:nvSpPr>
        <dsp:cNvPr id="0" name=""/>
        <dsp:cNvSpPr/>
      </dsp:nvSpPr>
      <dsp:spPr>
        <a:xfrm>
          <a:off x="0" y="2760080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Leaf-wise growth: Crece el arbol por hoja mas prometedora (vs level-wise)</a:t>
          </a:r>
        </a:p>
      </dsp:txBody>
      <dsp:txXfrm>
        <a:off x="61741" y="2821821"/>
        <a:ext cx="4876642" cy="1141288"/>
      </dsp:txXfrm>
    </dsp:sp>
    <dsp:sp modelId="{7310824E-2BBB-49CE-A761-A70429F19964}">
      <dsp:nvSpPr>
        <dsp:cNvPr id="0" name=""/>
        <dsp:cNvSpPr/>
      </dsp:nvSpPr>
      <dsp:spPr>
        <a:xfrm>
          <a:off x="0" y="4091090"/>
          <a:ext cx="5000124" cy="126477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Histograms: Agrupa valores continuos en bins para acelerar busqueda de splits</a:t>
          </a:r>
        </a:p>
      </dsp:txBody>
      <dsp:txXfrm>
        <a:off x="61741" y="4152831"/>
        <a:ext cx="4876642" cy="11412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A581C-347D-4124-9986-628B56077AEB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CFC363-1CEB-496B-80D0-63CB972EF37F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IDEAL PARA: Datasets grandes (&gt;100K registros), muchas features (&gt;100), necesidad de velocidad</a:t>
          </a:r>
        </a:p>
      </dsp:txBody>
      <dsp:txXfrm>
        <a:off x="0" y="0"/>
        <a:ext cx="5000124" cy="1363480"/>
      </dsp:txXfrm>
    </dsp:sp>
    <dsp:sp modelId="{24E53957-7A3F-4165-A72E-DBDFF590415B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7931F9-DC85-423D-AE4B-AC8C96E69869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COMPETICIONES KAGGLE: Uno de los algoritmos mas ganadores (junto con XGBoost y CatBoost)</a:t>
          </a:r>
        </a:p>
      </dsp:txBody>
      <dsp:txXfrm>
        <a:off x="0" y="1363480"/>
        <a:ext cx="5000124" cy="1363480"/>
      </dsp:txXfrm>
    </dsp:sp>
    <dsp:sp modelId="{781B5426-9F9D-4FAF-B582-D0F905E217D8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3D543D-F2C5-4D04-9BAB-3694EA87DBDF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PRODUCCION: Entrenamiento rapido para reentrenamiento frecuente</a:t>
          </a:r>
        </a:p>
      </dsp:txBody>
      <dsp:txXfrm>
        <a:off x="0" y="2726960"/>
        <a:ext cx="5000124" cy="1363480"/>
      </dsp:txXfrm>
    </dsp:sp>
    <dsp:sp modelId="{D35C3C1F-C252-48A8-9D80-588B65C1A44C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B37256-F3D2-4798-96FD-35735026CF49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EVITAR EN: Datasets muy pequenos (&lt;10K), cuando interpretabilidad es critica, datos muy ruidosos</a:t>
          </a:r>
        </a:p>
      </dsp:txBody>
      <dsp:txXfrm>
        <a:off x="0" y="4090440"/>
        <a:ext cx="5000124" cy="1363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s-ES" sz="4200">
                <a:solidFill>
                  <a:srgbClr val="FFFFFF"/>
                </a:solidFill>
              </a:rPr>
              <a:t>LightGBM: Gradient Boosting de Arboles de Decision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Light Gradient Boosting Machine - Explicacion Completa</a:t>
            </a:r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Que es Gradient Boosting?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E6C17A-B0AA-0C10-4286-30A5AF655F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83803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Arboles de Decision: Building Blocks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0885E2-8B9B-7617-E881-FA69BA6375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61731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Proceso de Gradient Boosting (Paso a Paso)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1. INICIALIZACION: Prediccion inicial = media de valores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FF0F0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C0000"/>
                </a:solidFill>
              </a:defRPr>
            </a:pPr>
            <a:r>
              <a:t>2. CALCULAR RESIDUOS: Error = Valor_Real - Prediccion_Actual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3. ENTRENAR ARBOL: Nuevo arbol predice los residuos (errores)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39"/>
            <a:ext cx="8229600" cy="54864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00"/>
                </a:solidFill>
              </a:defRPr>
            </a:pPr>
            <a:r>
              <a:t>4. ACTUALIZAR MODELO: Prediccion += learning_rate * prediccion_arbol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59"/>
            <a:ext cx="8229600" cy="548640"/>
          </a:xfrm>
          <a:prstGeom prst="rect">
            <a:avLst/>
          </a:prstGeom>
          <a:solidFill>
            <a:srgbClr val="FFFFE6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C9900"/>
                </a:solidFill>
              </a:defRPr>
            </a:pPr>
            <a:r>
              <a:t>5. REPETIR: Volver al paso 2 hasta alcanzar n_estimators o convergencia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0066"/>
                </a:solidFill>
              </a:defRPr>
            </a:pPr>
            <a:r>
              <a:t>RESULTADO FINAL: Suma ponderada de todos los arboles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Ejemplo Numerico: Como Converge el Algoritmo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EJEMPLO: Predecir precio de casa = $300K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Iteracion 0: Prediccion inicial = media($250K) | Error = +$50K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39"/>
            <a:ext cx="8229600" cy="54864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Iteracion 1: Arbol1 predice +$30K | Nueva prediccion = $280K | Error = +$20K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59"/>
            <a:ext cx="8229600" cy="548640"/>
          </a:xfrm>
          <a:prstGeom prst="rect">
            <a:avLst/>
          </a:prstGeom>
          <a:solidFill>
            <a:srgbClr val="F0F8FF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Iteracion 2: Arbol2 predice +$15K | Nueva prediccion = $295K | Error = +$5K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79"/>
            <a:ext cx="8229600" cy="548640"/>
          </a:xfrm>
          <a:prstGeom prst="rect">
            <a:avLst/>
          </a:prstGeom>
          <a:solidFill>
            <a:srgbClr val="FFFA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Iteracion 3: Arbol3 predice +$4K | Nueva prediccion = $299K | Error = +$1K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1999"/>
            <a:ext cx="8229600" cy="457200"/>
          </a:xfrm>
          <a:prstGeom prst="rect">
            <a:avLst/>
          </a:prstGeom>
          <a:solidFill>
            <a:srgbClr val="C8FFC8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00"/>
                </a:solidFill>
              </a:defRPr>
            </a:pPr>
            <a:r>
              <a:t>CONVERGENCIA: Error suficientemente pequeno!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Por que LightGBM es 'Light'?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6BE729-251C-5F7A-99E5-9B7E032D0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30233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GOSS: Como LightGBM Acelera el Entrenamiento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GOSS: Gradient-based One-Side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C0000"/>
                </a:solidFill>
              </a:defRPr>
            </a:pPr>
            <a:r>
              <a:t>PROBLEMA: Entrenar con millones de registros es 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66CC"/>
                </a:solidFill>
              </a:defRPr>
            </a:pPr>
            <a:r>
              <a:t>SOLUCION: No todas las muestras son igualmente informativas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ESTRATEGIA GOSS: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FF0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1. Mantener TODAS las muestras con gradientes grandes (errores grandes)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2. Muestrear ALEATORIAMENTE entre muestras con gradientes pequenos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solidFill>
            <a:srgbClr val="C8FFC8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00"/>
                </a:solidFill>
              </a:defRPr>
            </a:pPr>
            <a:r>
              <a:t>RESULTADO: Mantiene precision con ~10x menos datos en cada iteracion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EFB: Reduccion Inteligente de Dimensionalidad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EFB: Exclusive Feature Bundling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C0000"/>
                </a:solidFill>
              </a:defRPr>
            </a:pPr>
            <a:r>
              <a:t>PROBLEMA: Datasets con miles de features son lentos de procesar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66CC"/>
                </a:solidFill>
              </a:defRPr>
            </a:pPr>
            <a:r>
              <a:t>OBSERVACION: Muchas features son mutuamente exclusivas (nunca activas simultaneamente)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0F8FF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EJEMPLO: Features one-hot encoded de una variable categorica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00"/>
                </a:solidFill>
              </a:defRPr>
            </a:pPr>
            <a:r>
              <a:t>ESTRATEGIA EFB: Combinar features exclusivas en un solo bundle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C8FFC8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00"/>
                </a:solidFill>
              </a:defRPr>
            </a:pPr>
            <a:r>
              <a:t>RESULTADO: Reduce dimensionalidad sin perder informacion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Estrategias de Crecimiento de Arboles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LEVEL-WISE (XGBoost, tradicional):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- Crece el arbol nivel por nivel (todas las hojas del mismo nivel)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39"/>
            <a:ext cx="8229600" cy="457200"/>
          </a:xfrm>
          <a:prstGeom prst="rect">
            <a:avLst/>
          </a:prstGeom>
          <a:solidFill>
            <a:srgbClr val="F0F8FF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- Mas balanceado, menos riesgo de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LEAF-WISE (LightGBM):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- Crece la hoja que mas reduce la perdida (best-first)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FFA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- Arboles mas profundos y complejos, converge mas rapido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8229600" cy="548640"/>
          </a:xfrm>
          <a:prstGeom prst="rect">
            <a:avLst/>
          </a:prstGeom>
          <a:solidFill>
            <a:srgbClr val="FFF0F0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C0000"/>
                </a:solidFill>
              </a:defRPr>
            </a:pPr>
            <a:r>
              <a:t>IMPORTANTE: LightGBM requiere max_depth para evitar overfitting!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Histograms: Aceleracion via Discretizacion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HISTOGRAMS: Discretizacion de Features Continuos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C0000"/>
                </a:solidFill>
              </a:defRPr>
            </a:pPr>
            <a:r>
              <a:t>PROBLEMA CLASICO: Buscar el mejor split requiere ordenar valores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66CC"/>
                </a:solidFill>
              </a:defRPr>
            </a:pPr>
            <a:r>
              <a:t>SOLUCION: Agrupar valores en bins (histogramas) antes de entrenar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F0F8FF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EJEMPLO: Edad [18-80] -&gt; [0-20, 20-40, 40-60, 60-80] (4 bins)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VENTAJAS: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- Menor uso de memoria (almacena bins, no valores originales)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- Busqueda de splits mas rapida (menos candidatos)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- Regularizacion implicita (reduce ruido)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900"/>
                </a:solidFill>
              </a:defRPr>
            </a:pPr>
            <a:r>
              <a:t>DEFAULT: max_bin=255 (parametro ajustable)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defRPr sz="3200" b="1">
                <a:solidFill>
                  <a:srgbClr val="003366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Codigo Python: Uso Basico de LightGBM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300"/>
              <a:t>import lightgbm as lgb</a:t>
            </a:r>
            <a:br>
              <a:rPr lang="en-US" sz="1300"/>
            </a:br>
            <a:r>
              <a:rPr lang="en-US" sz="1300"/>
              <a:t>from sklearn.model_selection import train_test_split</a:t>
            </a:r>
            <a:br>
              <a:rPr lang="en-US" sz="1300"/>
            </a:br>
            <a:br>
              <a:rPr lang="en-US" sz="1300"/>
            </a:br>
            <a:r>
              <a:rPr lang="en-US" sz="1300"/>
              <a:t># Preparar datos</a:t>
            </a:r>
            <a:br>
              <a:rPr lang="en-US" sz="1300"/>
            </a:br>
            <a:r>
              <a:rPr lang="en-US" sz="1300"/>
              <a:t>X_train, X_test, y_train, y_test = train_test_split(X, y, test_size=0.2)</a:t>
            </a:r>
            <a:br>
              <a:rPr lang="en-US" sz="1300"/>
            </a:br>
            <a:br>
              <a:rPr lang="en-US" sz="1300"/>
            </a:br>
            <a:r>
              <a:rPr lang="en-US" sz="1300"/>
              <a:t># Crear dataset LightGBM (formato optimizado)</a:t>
            </a:r>
            <a:br>
              <a:rPr lang="en-US" sz="1300"/>
            </a:br>
            <a:r>
              <a:rPr lang="en-US" sz="1300"/>
              <a:t>train_data = lgb.Dataset(X_train, label=y_train)</a:t>
            </a:r>
            <a:br>
              <a:rPr lang="en-US" sz="1300"/>
            </a:br>
            <a:r>
              <a:rPr lang="en-US" sz="1300"/>
              <a:t>test_data = lgb.Dataset(X_test, label=y_test, reference=train_data)</a:t>
            </a:r>
            <a:br>
              <a:rPr lang="en-US" sz="1300"/>
            </a:br>
            <a:br>
              <a:rPr lang="en-US" sz="1300"/>
            </a:br>
            <a:r>
              <a:rPr lang="en-US" sz="1300"/>
              <a:t># Parametros basicos</a:t>
            </a:r>
            <a:br>
              <a:rPr lang="en-US" sz="1300"/>
            </a:br>
            <a:r>
              <a:rPr lang="en-US" sz="1300"/>
              <a:t>params = {</a:t>
            </a:r>
            <a:br>
              <a:rPr lang="en-US" sz="1300"/>
            </a:br>
            <a:r>
              <a:rPr lang="en-US" sz="1300"/>
              <a:t>    'objective': 'regression',  # o 'binary', 'multiclass'</a:t>
            </a:r>
            <a:br>
              <a:rPr lang="en-US" sz="1300"/>
            </a:br>
            <a:r>
              <a:rPr lang="en-US" sz="1300"/>
              <a:t>    'metric': 'rmse',</a:t>
            </a:r>
            <a:br>
              <a:rPr lang="en-US" sz="1300"/>
            </a:br>
            <a:r>
              <a:rPr lang="en-US" sz="1300"/>
              <a:t>    'boosting_type': 'gbdt',  # gradient boosting decision tree</a:t>
            </a:r>
            <a:br>
              <a:rPr lang="en-US" sz="1300"/>
            </a:br>
            <a:r>
              <a:rPr lang="en-US" sz="1300"/>
              <a:t>    'num_leaves': 31,  # max hojas por arbol</a:t>
            </a:r>
            <a:br>
              <a:rPr lang="en-US" sz="1300"/>
            </a:br>
            <a:r>
              <a:rPr lang="en-US" sz="1300"/>
              <a:t>    'learning_rate': 0.05,</a:t>
            </a:r>
            <a:br>
              <a:rPr lang="en-US" sz="1300"/>
            </a:br>
            <a:r>
              <a:rPr lang="en-US" sz="1300"/>
              <a:t>    'feature_fraction': 0.9  # sample de features</a:t>
            </a:r>
            <a:br>
              <a:rPr lang="en-US" sz="1300"/>
            </a:br>
            <a:r>
              <a:rPr lang="en-US" sz="1300"/>
              <a:t>}</a:t>
            </a:r>
            <a:br>
              <a:rPr lang="en-US" sz="1300"/>
            </a:br>
            <a:br>
              <a:rPr lang="en-US" sz="1300"/>
            </a:br>
            <a:r>
              <a:rPr lang="en-US" sz="1300"/>
              <a:t># Entrenar</a:t>
            </a:r>
            <a:br>
              <a:rPr lang="en-US" sz="1300"/>
            </a:br>
            <a:r>
              <a:rPr lang="en-US" sz="1300"/>
              <a:t>model = lgb.train(params, train_data, num_boost_round=100)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defRPr sz="3200" b="1">
                <a:solidFill>
                  <a:srgbClr val="003366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Parametros Clave de LightGBM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params = {</a:t>
            </a:r>
            <a:br>
              <a:rPr lang="en-US" sz="1200"/>
            </a:br>
            <a:r>
              <a:rPr lang="en-US" sz="1200"/>
              <a:t>    # OBJETIVO Y METRICA</a:t>
            </a:r>
            <a:br>
              <a:rPr lang="en-US" sz="1200"/>
            </a:br>
            <a:r>
              <a:rPr lang="en-US" sz="1200"/>
              <a:t>    'objective': 'regression',  # binary, multiclass, regression</a:t>
            </a:r>
            <a:br>
              <a:rPr lang="en-US" sz="1200"/>
            </a:br>
            <a:r>
              <a:rPr lang="en-US" sz="1200"/>
              <a:t>    'metric': 'rmse',  # mae, auc, logloss, etc.</a:t>
            </a:r>
            <a:br>
              <a:rPr lang="en-US" sz="1200"/>
            </a:br>
            <a:r>
              <a:rPr lang="en-US" sz="1200"/>
              <a:t>    </a:t>
            </a:r>
            <a:br>
              <a:rPr lang="en-US" sz="1200"/>
            </a:br>
            <a:r>
              <a:rPr lang="en-US" sz="1200"/>
              <a:t>    # ESTRUCTURA DEL ARBOL</a:t>
            </a:r>
            <a:br>
              <a:rPr lang="en-US" sz="1200"/>
            </a:br>
            <a:r>
              <a:rPr lang="en-US" sz="1200"/>
              <a:t>    'num_leaves': 31,  # max hojas (2^max_depth recomendado)</a:t>
            </a:r>
            <a:br>
              <a:rPr lang="en-US" sz="1200"/>
            </a:br>
            <a:r>
              <a:rPr lang="en-US" sz="1200"/>
              <a:t>    'max_depth': -1,  # -1 = sin limite (PELIGRO de overfitting)</a:t>
            </a:r>
            <a:br>
              <a:rPr lang="en-US" sz="1200"/>
            </a:br>
            <a:r>
              <a:rPr lang="en-US" sz="1200"/>
              <a:t>    'min_data_in_leaf': 20,  # min registros por hoja</a:t>
            </a:r>
            <a:br>
              <a:rPr lang="en-US" sz="1200"/>
            </a:br>
            <a:r>
              <a:rPr lang="en-US" sz="1200"/>
              <a:t>    </a:t>
            </a:r>
            <a:br>
              <a:rPr lang="en-US" sz="1200"/>
            </a:br>
            <a:r>
              <a:rPr lang="en-US" sz="1200"/>
              <a:t>    # ENTRENAMIENTO</a:t>
            </a:r>
            <a:br>
              <a:rPr lang="en-US" sz="1200"/>
            </a:br>
            <a:r>
              <a:rPr lang="en-US" sz="1200"/>
              <a:t>    'learning_rate': 0.05,  # shrinkage (0.01-0.3)</a:t>
            </a:r>
            <a:br>
              <a:rPr lang="en-US" sz="1200"/>
            </a:br>
            <a:r>
              <a:rPr lang="en-US" sz="1200"/>
              <a:t>    'num_boost_round': 100,  # numero de arboles</a:t>
            </a:r>
            <a:br>
              <a:rPr lang="en-US" sz="1200"/>
            </a:br>
            <a:r>
              <a:rPr lang="en-US" sz="1200"/>
              <a:t>    </a:t>
            </a:r>
            <a:br>
              <a:rPr lang="en-US" sz="1200"/>
            </a:br>
            <a:r>
              <a:rPr lang="en-US" sz="1200"/>
              <a:t>    # MUESTREO (regularizacion)</a:t>
            </a:r>
            <a:br>
              <a:rPr lang="en-US" sz="1200"/>
            </a:br>
            <a:r>
              <a:rPr lang="en-US" sz="1200"/>
              <a:t>    'feature_fraction': 0.9,  # % features por arbol</a:t>
            </a:r>
            <a:br>
              <a:rPr lang="en-US" sz="1200"/>
            </a:br>
            <a:r>
              <a:rPr lang="en-US" sz="1200"/>
              <a:t>    'bagging_fraction': 0.8,  # % datos por arbol</a:t>
            </a:r>
            <a:br>
              <a:rPr lang="en-US" sz="1200"/>
            </a:br>
            <a:r>
              <a:rPr lang="en-US" sz="1200"/>
              <a:t>    'bagging_freq': 5,  # cada cuantas iteraciones hacer bagging</a:t>
            </a:r>
            <a:br>
              <a:rPr lang="en-US" sz="1200"/>
            </a:br>
            <a:r>
              <a:rPr lang="en-US" sz="1200"/>
              <a:t>    </a:t>
            </a:r>
            <a:br>
              <a:rPr lang="en-US" sz="1200"/>
            </a:br>
            <a:r>
              <a:rPr lang="en-US" sz="1200"/>
              <a:t>    # REGULARIZACION</a:t>
            </a:r>
            <a:br>
              <a:rPr lang="en-US" sz="1200"/>
            </a:br>
            <a:r>
              <a:rPr lang="en-US" sz="1200"/>
              <a:t>    'lambda_l1': 0.0,  # L1 regularization</a:t>
            </a:r>
            <a:br>
              <a:rPr lang="en-US" sz="1200"/>
            </a:br>
            <a:r>
              <a:rPr lang="en-US" sz="1200"/>
              <a:t>    'lambda_l2': 0.0,  # L2 regularization</a:t>
            </a:r>
            <a:br>
              <a:rPr lang="en-US" sz="1200"/>
            </a:br>
            <a:r>
              <a:rPr lang="en-US" sz="1200"/>
              <a:t>    </a:t>
            </a:r>
            <a:br>
              <a:rPr lang="en-US" sz="1200"/>
            </a:br>
            <a:r>
              <a:rPr lang="en-US" sz="1200"/>
              <a:t>    # RENDIMIENTO</a:t>
            </a:r>
            <a:br>
              <a:rPr lang="en-US" sz="1200"/>
            </a:br>
            <a:r>
              <a:rPr lang="en-US" sz="1200"/>
              <a:t>    'max_bin': 255,  # bins para histogramas</a:t>
            </a:r>
            <a:br>
              <a:rPr lang="en-US" sz="1200"/>
            </a:br>
            <a:r>
              <a:rPr lang="en-US" sz="1200"/>
              <a:t>    'verbose': -1  # suprimir warnings</a:t>
            </a:r>
            <a:br>
              <a:rPr lang="en-US" sz="1200"/>
            </a:br>
            <a:r>
              <a:rPr lang="en-US" sz="1200"/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defRPr sz="3200" b="1">
                <a:solidFill>
                  <a:srgbClr val="003366"/>
                </a:solidFill>
              </a:defRPr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Early Stopping: Evitar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200"/>
              <a:t># EARLY STOPPING: Detener cuando validacion deja de mejorar</a:t>
            </a:r>
            <a:br>
              <a:rPr lang="en-US" sz="1200"/>
            </a:br>
            <a:br>
              <a:rPr lang="en-US" sz="1200"/>
            </a:br>
            <a:r>
              <a:rPr lang="en-US" sz="1200"/>
              <a:t>train_data = lgb.Dataset(X_train, label=y_train)</a:t>
            </a:r>
            <a:br>
              <a:rPr lang="en-US" sz="1200"/>
            </a:br>
            <a:r>
              <a:rPr lang="en-US" sz="1200"/>
              <a:t>valid_data = lgb.Dataset(X_valid, label=y_valid, reference=train_data)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params = {</a:t>
            </a:r>
            <a:br>
              <a:rPr lang="en-US" sz="1200"/>
            </a:br>
            <a:r>
              <a:rPr lang="en-US" sz="1200"/>
              <a:t>    'objective': 'regression',</a:t>
            </a:r>
            <a:br>
              <a:rPr lang="en-US" sz="1200"/>
            </a:br>
            <a:r>
              <a:rPr lang="en-US" sz="1200"/>
              <a:t>    'metric': 'rmse',</a:t>
            </a:r>
            <a:br>
              <a:rPr lang="en-US" sz="1200"/>
            </a:br>
            <a:r>
              <a:rPr lang="en-US" sz="1200"/>
              <a:t>    'learning_rate': 0.05</a:t>
            </a:r>
            <a:br>
              <a:rPr lang="en-US" sz="1200"/>
            </a:br>
            <a:r>
              <a:rPr lang="en-US" sz="1200"/>
              <a:t>}</a:t>
            </a:r>
            <a:br>
              <a:rPr lang="en-US" sz="1200"/>
            </a:br>
            <a:br>
              <a:rPr lang="en-US" sz="1200"/>
            </a:br>
            <a:r>
              <a:rPr lang="en-US" sz="1200"/>
              <a:t># Entrenar con early stopping</a:t>
            </a:r>
            <a:br>
              <a:rPr lang="en-US" sz="1200"/>
            </a:br>
            <a:r>
              <a:rPr lang="en-US" sz="1200"/>
              <a:t>model = lgb.train(</a:t>
            </a:r>
            <a:br>
              <a:rPr lang="en-US" sz="1200"/>
            </a:br>
            <a:r>
              <a:rPr lang="en-US" sz="1200"/>
              <a:t>    params,</a:t>
            </a:r>
            <a:br>
              <a:rPr lang="en-US" sz="1200"/>
            </a:br>
            <a:r>
              <a:rPr lang="en-US" sz="1200"/>
              <a:t>    train_data,</a:t>
            </a:r>
            <a:br>
              <a:rPr lang="en-US" sz="1200"/>
            </a:br>
            <a:r>
              <a:rPr lang="en-US" sz="1200"/>
              <a:t>    num_boost_round=1000,  # maximo de iteraciones</a:t>
            </a:r>
            <a:br>
              <a:rPr lang="en-US" sz="1200"/>
            </a:br>
            <a:r>
              <a:rPr lang="en-US" sz="1200"/>
              <a:t>    valid_sets=[train_data, valid_data],</a:t>
            </a:r>
            <a:br>
              <a:rPr lang="en-US" sz="1200"/>
            </a:br>
            <a:r>
              <a:rPr lang="en-US" sz="1200"/>
              <a:t>    valid_names=['train', 'valid'],</a:t>
            </a:r>
            <a:br>
              <a:rPr lang="en-US" sz="1200"/>
            </a:br>
            <a:r>
              <a:rPr lang="en-US" sz="1200"/>
              <a:t>    callbacks=[</a:t>
            </a:r>
            <a:br>
              <a:rPr lang="en-US" sz="1200"/>
            </a:br>
            <a:r>
              <a:rPr lang="en-US" sz="1200"/>
              <a:t>        lgb.early_stopping(stopping_rounds=50),  # parar si no mejora en 50 rounds</a:t>
            </a:r>
            <a:br>
              <a:rPr lang="en-US" sz="1200"/>
            </a:br>
            <a:r>
              <a:rPr lang="en-US" sz="1200"/>
              <a:t>        lgb.log_evaluation(period=10)  # log cada 10 rounds</a:t>
            </a:r>
            <a:br>
              <a:rPr lang="en-US" sz="1200"/>
            </a:br>
            <a:r>
              <a:rPr lang="en-US" sz="1200"/>
              <a:t>    ]</a:t>
            </a:r>
            <a:br>
              <a:rPr lang="en-US" sz="1200"/>
            </a:br>
            <a:r>
              <a:rPr lang="en-US" sz="1200"/>
              <a:t>)</a:t>
            </a:r>
            <a:br>
              <a:rPr lang="en-US" sz="1200"/>
            </a:br>
            <a:br>
              <a:rPr lang="en-US" sz="1200"/>
            </a:br>
            <a:r>
              <a:rPr lang="en-US" sz="1200"/>
              <a:t>print(f'Mejor iteracion: {model.best_iteration}')</a:t>
            </a:r>
            <a:br>
              <a:rPr lang="en-US" sz="1200"/>
            </a:br>
            <a:r>
              <a:rPr lang="en-US" sz="1200"/>
              <a:t>print(f'Mejor score: {model.best_score}')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defRPr sz="3200" b="1">
                <a:solidFill>
                  <a:srgbClr val="003366"/>
                </a:solidFill>
              </a:defRPr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Importance: Interpretar 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7694" y="649480"/>
            <a:ext cx="4916510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latin typeface="Courier New"/>
              </a:defRPr>
            </a:pPr>
            <a:r>
              <a:rPr lang="en-US" sz="1400"/>
              <a:t>import matplotlib.pyplot as plt</a:t>
            </a:r>
            <a:br>
              <a:rPr lang="en-US" sz="1400"/>
            </a:br>
            <a:br>
              <a:rPr lang="en-US" sz="1400"/>
            </a:br>
            <a:r>
              <a:rPr lang="en-US" sz="1400"/>
              <a:t># Obtener importancia de features</a:t>
            </a:r>
            <a:br>
              <a:rPr lang="en-US" sz="1400"/>
            </a:br>
            <a:r>
              <a:rPr lang="en-US" sz="1400"/>
              <a:t>importance = model.feature_importance(importance_type='gain')</a:t>
            </a:r>
            <a:br>
              <a:rPr lang="en-US" sz="1400"/>
            </a:br>
            <a:r>
              <a:rPr lang="en-US" sz="1400"/>
              <a:t>feature_names = model.feature_name()</a:t>
            </a:r>
            <a:br>
              <a:rPr lang="en-US" sz="1400"/>
            </a:br>
            <a:br>
              <a:rPr lang="en-US" sz="1400"/>
            </a:br>
            <a:r>
              <a:rPr lang="en-US" sz="1400"/>
              <a:t># Crear DataFrame ordenado</a:t>
            </a:r>
            <a:br>
              <a:rPr lang="en-US" sz="1400"/>
            </a:br>
            <a:r>
              <a:rPr lang="en-US" sz="1400"/>
              <a:t>import pandas as pd</a:t>
            </a:r>
            <a:br>
              <a:rPr lang="en-US" sz="1400"/>
            </a:br>
            <a:r>
              <a:rPr lang="en-US" sz="1400"/>
              <a:t>feat_imp = pd.DataFrame({</a:t>
            </a:r>
            <a:br>
              <a:rPr lang="en-US" sz="1400"/>
            </a:br>
            <a:r>
              <a:rPr lang="en-US" sz="1400"/>
              <a:t>    'feature': feature_names,</a:t>
            </a:r>
            <a:br>
              <a:rPr lang="en-US" sz="1400"/>
            </a:br>
            <a:r>
              <a:rPr lang="en-US" sz="1400"/>
              <a:t>    'importance': importance</a:t>
            </a:r>
            <a:br>
              <a:rPr lang="en-US" sz="1400"/>
            </a:br>
            <a:r>
              <a:rPr lang="en-US" sz="1400"/>
              <a:t>}).sort_values('importance', ascending=False)</a:t>
            </a:r>
            <a:br>
              <a:rPr lang="en-US" sz="1400"/>
            </a:br>
            <a:br>
              <a:rPr lang="en-US" sz="1400"/>
            </a:br>
            <a:r>
              <a:rPr lang="en-US" sz="1400"/>
              <a:t># Visualizar top 20</a:t>
            </a:r>
            <a:br>
              <a:rPr lang="en-US" sz="1400"/>
            </a:br>
            <a:r>
              <a:rPr lang="en-US" sz="1400"/>
              <a:t>feat_imp.head(20).plot(x='feature', y='importance', kind='barh')</a:t>
            </a:r>
            <a:br>
              <a:rPr lang="en-US" sz="1400"/>
            </a:br>
            <a:r>
              <a:rPr lang="en-US" sz="1400"/>
              <a:t>plt.title('Top 20 Features mas Importantes')</a:t>
            </a:r>
            <a:br>
              <a:rPr lang="en-US" sz="1400"/>
            </a:br>
            <a:r>
              <a:rPr lang="en-US" sz="1400"/>
              <a:t>plt.show()</a:t>
            </a:r>
            <a:br>
              <a:rPr lang="en-US" sz="1400"/>
            </a:br>
            <a:br>
              <a:rPr lang="en-US" sz="1400"/>
            </a:br>
            <a:r>
              <a:rPr lang="en-US" sz="1400"/>
              <a:t># TIPOS DE IMPORTANCIA:</a:t>
            </a:r>
            <a:br>
              <a:rPr lang="en-US" sz="1400"/>
            </a:br>
            <a:r>
              <a:rPr lang="en-US" sz="1400"/>
              <a:t># 'split': Numero de veces que se usa el feature</a:t>
            </a:r>
            <a:br>
              <a:rPr lang="en-US" sz="1400"/>
            </a:br>
            <a:r>
              <a:rPr lang="en-US" sz="1400"/>
              <a:t># 'gain': Ganancia total de usar el feature (mejor opcion)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Ventajas vs Desventajas de LightGBM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9900"/>
                </a:solidFill>
              </a:defRPr>
            </a:pPr>
            <a:r>
              <a:t>VENTAJAS DE LIGHTGBM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✓ Muy rapido: 10-20x mas rapido que XGBoost en datasets grandes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39"/>
            <a:ext cx="8229600" cy="45720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✓ Eficiente en memoria: Usa histogramas y GOSS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✓ Maneja features categoricos nativamente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✓ Mejor accuracy en muchos casos vs 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C0000"/>
                </a:solidFill>
              </a:defRPr>
            </a:pPr>
            <a:r>
              <a:t>DESVENTAJAS Y PRECAUCIONES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solidFill>
            <a:srgbClr val="FFF0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✗ Leaf-wise growth: Mas propenso a overfitting (requiere tuning cuidadoso)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8229600" cy="457200"/>
          </a:xfrm>
          <a:prstGeom prst="rect">
            <a:avLst/>
          </a:prstGeom>
          <a:solidFill>
            <a:srgbClr val="FFF0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✗ Sensible a datos pequenos (&lt; 10K registros): Preferir 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solidFill>
            <a:srgbClr val="FFF0F0"/>
          </a:solidFill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✗ Menos estable que XGBoost (resultados pueden variar mas)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3500">
                <a:solidFill>
                  <a:srgbClr val="FFFFFF"/>
                </a:solidFill>
              </a:rPr>
              <a:t>Cuando Usar LightGBM?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E00AFF-2CA0-917D-4B58-6B64EA3E88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56120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para Aprender 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 err="1"/>
              <a:t>Documentacion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: https://lightgbm.readthedocs.io/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Paper Original: 'LightGBM: A Highly Efficient Gradient Boosting Decision Tree' (2017)</a:t>
            </a:r>
          </a:p>
          <a:p>
            <a:pPr>
              <a:spcAft>
                <a:spcPts val="1200"/>
              </a:spcAft>
              <a:defRPr sz="2000"/>
            </a:pPr>
            <a:r>
              <a:rPr dirty="0"/>
              <a:t>GitHub: https://github.com/microsoft/LightGBM</a:t>
            </a:r>
          </a:p>
          <a:p>
            <a:pPr>
              <a:spcAft>
                <a:spcPts val="1200"/>
              </a:spcAft>
              <a:defRPr sz="2000"/>
            </a:pPr>
            <a:r>
              <a:rPr dirty="0" err="1"/>
              <a:t>Comparativas</a:t>
            </a:r>
            <a:r>
              <a:rPr dirty="0"/>
              <a:t>: https://github.com/szilard/GBM-perf (benchmarks vs </a:t>
            </a:r>
            <a:r>
              <a:rPr dirty="0" err="1"/>
              <a:t>XGBoost</a:t>
            </a:r>
            <a:r>
              <a:rPr dirty="0"/>
              <a:t>, H2O, etc.)</a:t>
            </a:r>
            <a:endParaRPr lang="es-ES" dirty="0"/>
          </a:p>
          <a:p>
            <a:pPr>
              <a:spcAft>
                <a:spcPts val="1200"/>
              </a:spcAft>
              <a:defRPr sz="2000"/>
            </a:pPr>
            <a:r>
              <a:rPr lang="es-ES" dirty="0"/>
              <a:t>https://developers.google.com/machine-learning/decision-forests/intro-to-gbdt?hl=es-419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Resumen Final: LightGBM en Pocas Palabras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RESUMEN: QUE ES LIGHTGBM?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✓ Algoritmo de Gradient Boosting optimizado para velocidad y eficiencia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✓ Usa GOSS (muestreo inteligente) y EFB (bundling de features)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✓ Leaf-wise growth: Mas preciso pero requiere cuidado con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79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✓ Histogramas: Discretiza features para acelerar busqueda de splits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1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✓ Ideal para datasets grandes con muchas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✓ Uno de los algoritmos mas ganadores en competiciones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32378"/>
            <a:ext cx="8229600" cy="640080"/>
          </a:xfrm>
          <a:prstGeom prst="rect">
            <a:avLst/>
          </a:prstGeom>
          <a:solidFill>
            <a:srgbClr val="C8FFC8"/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00"/>
                </a:solidFill>
              </a:defRPr>
            </a:pPr>
            <a:r>
              <a:t>PROXIMOS PASOS: Probar en tu propio dataset y tunear hiperparametros!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1809</Words>
  <Application>Microsoft Office PowerPoint</Application>
  <PresentationFormat>On-screen Show (4:3)</PresentationFormat>
  <Paragraphs>103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LightGBM: Gradient Boosting de Arboles de Decision</vt:lpstr>
      <vt:lpstr>Que es Gradient Boosting?</vt:lpstr>
      <vt:lpstr>Arboles de Decision: Building Blocks</vt:lpstr>
      <vt:lpstr>PowerPoint Presentation</vt:lpstr>
      <vt:lpstr>PowerPoint Presentation</vt:lpstr>
      <vt:lpstr>Por que LightGBM es 'Light'?</vt:lpstr>
      <vt:lpstr>PowerPoint Presentation</vt:lpstr>
      <vt:lpstr>PowerPoint Presentation</vt:lpstr>
      <vt:lpstr>PowerPoint Presentation</vt:lpstr>
      <vt:lpstr>PowerPoint Presentation</vt:lpstr>
      <vt:lpstr>Codigo Python: Uso Basico de LightGBM</vt:lpstr>
      <vt:lpstr>Parametros Clave de LightGBM</vt:lpstr>
      <vt:lpstr>Early Stopping: Evitar Overfitting</vt:lpstr>
      <vt:lpstr>Feature Importance: Interpretar el Modelo</vt:lpstr>
      <vt:lpstr>PowerPoint Presentation</vt:lpstr>
      <vt:lpstr>Cuando Usar LightGBM?</vt:lpstr>
      <vt:lpstr>Recursos para Aprender Mas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FERNANDEZ Francisco</cp:lastModifiedBy>
  <cp:revision>2</cp:revision>
  <dcterms:created xsi:type="dcterms:W3CDTF">2013-01-27T09:14:16Z</dcterms:created>
  <dcterms:modified xsi:type="dcterms:W3CDTF">2025-11-08T11:39:52Z</dcterms:modified>
  <cp:category/>
</cp:coreProperties>
</file>