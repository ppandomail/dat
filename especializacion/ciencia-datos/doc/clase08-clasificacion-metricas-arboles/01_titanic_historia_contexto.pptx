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36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97822" y="1520577"/>
            <a:ext cx="37480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TITANIC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19351" y="2953727"/>
            <a:ext cx="1905000" cy="190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75348" y="3163277"/>
            <a:ext cx="4593154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33"/>
              </a:lnSpc>
              <a:buNone/>
            </a:pPr>
            <a:r>
              <a:rPr lang="en-US" sz="2100" dirty="0">
                <a:solidFill>
                  <a:srgbClr val="F5F5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Historia, Datos y Aprendizaje de Máquina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180561" y="4031094"/>
            <a:ext cx="2782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E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mirada al desastre que definió un dataset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661987"/>
            <a:ext cx="861060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04800" y="228600"/>
            <a:ext cx="44011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Desastre del Titanic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4800" y="1390799"/>
            <a:ext cx="3806130" cy="1019026"/>
          </a:xfrm>
          <a:prstGeom prst="roundRect">
            <a:avLst>
              <a:gd name="adj" fmla="val 3739"/>
            </a:avLst>
          </a:prstGeom>
          <a:solidFill>
            <a:srgbClr val="1A233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581299"/>
            <a:ext cx="34936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DEL HUNDIMIENTO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95300" y="1792635"/>
            <a:ext cx="349363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de Abril, 1912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4800" y="2562225"/>
            <a:ext cx="3806130" cy="933301"/>
          </a:xfrm>
          <a:prstGeom prst="roundRect">
            <a:avLst>
              <a:gd name="adj" fmla="val 4082"/>
            </a:avLst>
          </a:prstGeom>
          <a:solidFill>
            <a:srgbClr val="E8E4D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562225"/>
            <a:ext cx="0" cy="933301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14350" y="2733675"/>
            <a:ext cx="34936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PASAJEROS Y TRIPULACIÓN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350" y="2950815"/>
            <a:ext cx="34936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2,224 personas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4800" y="3647926"/>
            <a:ext cx="3806130" cy="933301"/>
          </a:xfrm>
          <a:prstGeom prst="roundRect">
            <a:avLst>
              <a:gd name="adj" fmla="val 4082"/>
            </a:avLst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3819376"/>
            <a:ext cx="3532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VÍCTIMAS FATALES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" y="4036516"/>
            <a:ext cx="35324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1,502 fallecidos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39530" y="1862138"/>
            <a:ext cx="4511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RMS Titanic era el transatlántico más grande y lujoso de su época. Se consideraba "insumergible" por sus avanzados sistemas de seguridad.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339530" y="2643188"/>
            <a:ext cx="4511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su viaje inaugural desde Southampton (Reino Unido) hacia Nueva York, colisionó con un iceberg en el Atlántico Norte a las 23:40 del 14 de abril.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339530" y="3424238"/>
            <a:ext cx="4511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barco se hundió en menos de 3 horas. La escasez de botes salvavidas y protocolos inadecuados de evacuación causaron una tragedia humanitaria.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04800" y="4781550"/>
            <a:ext cx="8782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Encyclopedia Britannica, National Archives (UK)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4800" y="950376"/>
            <a:ext cx="861060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04800" y="228600"/>
            <a:ext cx="631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el Titanic es tan popular en ML?</a:t>
            </a:r>
            <a:endParaRPr lang="en-US" sz="2700" dirty="0"/>
          </a:p>
        </p:txBody>
      </p:sp>
      <p:pic>
        <p:nvPicPr>
          <p:cNvPr id="5" name="Image 0" descr="/tmp/rasterized-gradient-aaf476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70059"/>
            <a:ext cx="8458200" cy="6417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1403409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TAMAÑO IDEAL PARA APRENDER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95300" y="1605220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~900 observaciones: suficientemente grande para entrenar modelos, lo bastante pequeño para procesarse rápidamente y entender cada ejemplo.</a:t>
            </a:r>
            <a:endParaRPr lang="en-US" sz="975" dirty="0"/>
          </a:p>
        </p:txBody>
      </p:sp>
      <p:pic>
        <p:nvPicPr>
          <p:cNvPr id="8" name="Image 1" descr="/tmp/rasterized-gradient-b83785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016581"/>
            <a:ext cx="8458200" cy="6417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5300" y="2149931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VARIABLES INTERPRETABLES</a:t>
            </a:r>
            <a:endParaRPr lang="en-US" sz="975" dirty="0"/>
          </a:p>
        </p:txBody>
      </p:sp>
      <p:sp>
        <p:nvSpPr>
          <p:cNvPr id="10" name="Text 6"/>
          <p:cNvSpPr/>
          <p:nvPr/>
        </p:nvSpPr>
        <p:spPr>
          <a:xfrm>
            <a:off x="495300" y="2351742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variables (edad, sexo, clase social, precio del boleto) son fáciles de entender sin conocimiento técnico previo. Ideal para principiantes.</a:t>
            </a:r>
            <a:endParaRPr lang="en-US" sz="975" dirty="0"/>
          </a:p>
        </p:txBody>
      </p:sp>
      <p:pic>
        <p:nvPicPr>
          <p:cNvPr id="11" name="Image 2" descr="/tmp/rasterized-gradient-12f80c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763103"/>
            <a:ext cx="8458200" cy="6417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5300" y="2896453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NARRATIVA HISTÓRICA CONOCIDA</a:t>
            </a:r>
            <a:endParaRPr lang="en-US" sz="975" dirty="0"/>
          </a:p>
        </p:txBody>
      </p:sp>
      <p:sp>
        <p:nvSpPr>
          <p:cNvPr id="13" name="Text 8"/>
          <p:cNvSpPr/>
          <p:nvPr/>
        </p:nvSpPr>
        <p:spPr>
          <a:xfrm>
            <a:off x="495300" y="3098264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mundo conoce la historia del Titanic. Esto facilita la comprensión del contexto y hace que los resultados sean memorables.</a:t>
            </a:r>
            <a:endParaRPr lang="en-US" sz="975" dirty="0"/>
          </a:p>
        </p:txBody>
      </p:sp>
      <p:pic>
        <p:nvPicPr>
          <p:cNvPr id="14" name="Image 3" descr="/tmp/rasterized-gradient-0b025b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509625"/>
            <a:ext cx="8458200" cy="6417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5300" y="3642975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SESGOS HISTÓRICOS EVIDENTES</a:t>
            </a:r>
            <a:endParaRPr lang="en-US" sz="975" dirty="0"/>
          </a:p>
        </p:txBody>
      </p:sp>
      <p:sp>
        <p:nvSpPr>
          <p:cNvPr id="16" name="Text 10"/>
          <p:cNvSpPr/>
          <p:nvPr/>
        </p:nvSpPr>
        <p:spPr>
          <a:xfrm>
            <a:off x="495300" y="3844786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patrones de supervivencia reflejan desigualdades sociales reales: género, clase, edad. Excelente para enseñar fairness y ética en ML.</a:t>
            </a:r>
            <a:endParaRPr lang="en-US" sz="975" dirty="0"/>
          </a:p>
        </p:txBody>
      </p:sp>
      <p:pic>
        <p:nvPicPr>
          <p:cNvPr id="17" name="Image 4" descr="/tmp/rasterized-gradient-0cee94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256147"/>
            <a:ext cx="8458200" cy="6417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5300" y="4389497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PROBLEMA DE CLASIFICACIÓN BINARIA</a:t>
            </a:r>
            <a:endParaRPr lang="en-US" sz="975" dirty="0"/>
          </a:p>
        </p:txBody>
      </p:sp>
      <p:sp>
        <p:nvSpPr>
          <p:cNvPr id="19" name="Text 12"/>
          <p:cNvSpPr/>
          <p:nvPr/>
        </p:nvSpPr>
        <p:spPr>
          <a:xfrm>
            <a:off x="495300" y="4591308"/>
            <a:ext cx="8297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Sobrevivió (1) o no sobrevivió (0): clasificación simple, perfecta para introducir algoritmos de ML supervisado.</a:t>
            </a:r>
            <a:endParaRPr lang="en-US" sz="9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0" y="273695"/>
            <a:ext cx="1143000" cy="28575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4383" y="530870"/>
            <a:ext cx="4015234" cy="52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095"/>
              </a:lnSpc>
              <a:buNone/>
            </a:pPr>
            <a:r>
              <a:rPr lang="en-US" sz="31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Desastre al Dataset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171575" y="1483461"/>
            <a:ext cx="680085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00" dirty="0">
                <a:solidFill>
                  <a:srgbClr val="F5F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Titanic nos ofrece más que un caso de estudio para algoritmos de clasificación. Es una lección sobre cómo los datos históricos codifican desigualdades sociales, y cómo nuestros modelos pueden perpetuarlas sin reflexión crítica.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6134" y="2418604"/>
            <a:ext cx="5291733" cy="1762125"/>
          </a:xfrm>
          <a:prstGeom prst="roundRect">
            <a:avLst>
              <a:gd name="adj" fmla="val 2162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45250" y="2628154"/>
            <a:ext cx="4853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en el Aprendizaje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2145250" y="2942479"/>
            <a:ext cx="4853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Entrenar modelos de clasificación (Árboles de Decisión, Random Forest, etc.)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5250" y="3218704"/>
            <a:ext cx="4853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Evaluar performance con métricas (Accuracy, Precision, Recall, F1)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45250" y="3494929"/>
            <a:ext cx="4853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Analizar curvas ROC y calibrar umbrales de decisión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45250" y="3771154"/>
            <a:ext cx="4853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Auditar equidad: comparar error por sexo, clase y edad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00500" y="4409329"/>
            <a:ext cx="1143000" cy="190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69658" y="4656979"/>
            <a:ext cx="42045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E8E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"Aquellos que no pueden recordar el pasado están condenados a repetirlo"</a:t>
            </a:r>
            <a:endParaRPr lang="en-US" sz="975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E8E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George Santayana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399</Words>
  <Application>Microsoft Office PowerPoint</Application>
  <PresentationFormat>On-screen Show (16:9)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del Titanic y Contexto del Dataset - Machine Learning</dc:title>
  <dc:subject>Data Science Applications / Health Economics</dc:subject>
  <dc:creator>Fran - Universidad Nacional del Oeste (UNO)</dc:creator>
  <cp:lastModifiedBy>FERNANDEZ Francisco</cp:lastModifiedBy>
  <cp:revision>4</cp:revision>
  <dcterms:created xsi:type="dcterms:W3CDTF">2025-11-22T09:28:34Z</dcterms:created>
  <dcterms:modified xsi:type="dcterms:W3CDTF">2025-11-23T13:37:00Z</dcterms:modified>
</cp:coreProperties>
</file>