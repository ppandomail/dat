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37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atrec.2005.10.01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1290" y="966306"/>
            <a:ext cx="4401122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Aft>
                <a:spcPts val="1500"/>
              </a:spcAft>
              <a:buNone/>
            </a:pPr>
            <a:r>
              <a:rPr lang="en-US" sz="39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Curvas ROC y AUC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805057" y="2348954"/>
            <a:ext cx="55337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Evaluando Clasificadores con Umbrales Variables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05057" y="3049935"/>
            <a:ext cx="553373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del Oeste (UNO)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05057" y="3327946"/>
            <a:ext cx="55337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Applications • Fran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una curva ROC?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745159"/>
            <a:ext cx="8382000" cy="790575"/>
          </a:xfrm>
          <a:prstGeom prst="roundRect">
            <a:avLst>
              <a:gd name="adj" fmla="val 963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745159"/>
            <a:ext cx="0" cy="790575"/>
          </a:xfrm>
          <a:prstGeom prst="line">
            <a:avLst/>
          </a:prstGeom>
          <a:noFill/>
          <a:ln w="571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0550" y="1897559"/>
            <a:ext cx="8180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</a:t>
            </a: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200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Operating Characteristic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0550" y="2183309"/>
            <a:ext cx="8180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que muestra el rendimiento de un clasificador binario en todos los umbrales posibles.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2802434"/>
            <a:ext cx="4038600" cy="112543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450" y="2973884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X: False Positive Rate (FPR)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2450" y="3236714"/>
            <a:ext cx="3769614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FPR = 1 - Especificidad</a:t>
            </a:r>
            <a:endParaRPr lang="en-US" sz="975" dirty="0"/>
          </a:p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Proporción de negativos clasificados incorrectamente como positivos.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24400" y="2889052"/>
            <a:ext cx="4038600" cy="952202"/>
          </a:xfrm>
          <a:prstGeom prst="roundRect">
            <a:avLst>
              <a:gd name="adj" fmla="val 8003"/>
            </a:avLst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95850" y="3060502"/>
            <a:ext cx="37696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 Y: True Positive Rate (TPR)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5850" y="3323332"/>
            <a:ext cx="376961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TPR = Sensibilidad = Recall</a:t>
            </a:r>
            <a:endParaRPr lang="en-US" sz="975" dirty="0"/>
          </a:p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Proporción de positivos correctamente identificados.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97180" y="4194572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punto en la curva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representa TPR vs FPR para un threshold diferente.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" y="4800600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Titanic • Clasificadores binarios (sobrevive / no sobrevive)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F4934-6186-3516-E378-4AE520654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429" y="0"/>
            <a:ext cx="5688451" cy="4543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55222D-191F-8014-9DD2-8E80C223ABA0}"/>
              </a:ext>
            </a:extLst>
          </p:cNvPr>
          <p:cNvSpPr txBox="1"/>
          <p:nvPr/>
        </p:nvSpPr>
        <p:spPr>
          <a:xfrm>
            <a:off x="520505" y="4508689"/>
            <a:ext cx="74840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Fawcett, Tom. «An Introduction to ROC Analysis». </a:t>
            </a:r>
            <a:r>
              <a:rPr lang="en-US" sz="1100" i="1" dirty="0"/>
              <a:t>Pattern Recognition Letters</a:t>
            </a:r>
            <a:r>
              <a:rPr lang="en-US" sz="1100" dirty="0"/>
              <a:t> 27, </a:t>
            </a:r>
            <a:r>
              <a:rPr lang="en-US" sz="1100" dirty="0" err="1"/>
              <a:t>n.</a:t>
            </a:r>
            <a:r>
              <a:rPr lang="en-US" sz="1100" baseline="30000" dirty="0" err="1"/>
              <a:t>o</a:t>
            </a:r>
            <a:r>
              <a:rPr lang="en-US" sz="1100" dirty="0"/>
              <a:t> 8 (2006): 861-74. </a:t>
            </a:r>
            <a:r>
              <a:rPr lang="en-US" sz="1100" dirty="0">
                <a:hlinkClick r:id="rId3"/>
              </a:rPr>
              <a:t>https://doi.org/10.1016/j.patrec.2005.10.010</a:t>
            </a:r>
            <a:r>
              <a:rPr lang="en-US" sz="1100" dirty="0"/>
              <a:t>.</a:t>
            </a:r>
            <a:endParaRPr lang="es-ES" sz="1100" dirty="0"/>
          </a:p>
          <a:p>
            <a:r>
              <a:rPr lang="es-ES" sz="1100" dirty="0"/>
              <a:t>https://people.inf.elte.hu/kiss/13dwhdm/roc.pdf</a:t>
            </a:r>
          </a:p>
        </p:txBody>
      </p:sp>
    </p:spTree>
    <p:extLst>
      <p:ext uri="{BB962C8B-B14F-4D97-AF65-F5344CB8AC3E}">
        <p14:creationId xmlns:p14="http://schemas.microsoft.com/office/powerpoint/2010/main" val="58057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Interpretando la curva ROC</a:t>
            </a:r>
            <a:endParaRPr lang="en-US" sz="2700" dirty="0"/>
          </a:p>
        </p:txBody>
      </p:sp>
      <p:pic>
        <p:nvPicPr>
          <p:cNvPr id="3" name="Image 0" descr="/tmp/rasterized-gradient-98c947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91841"/>
            <a:ext cx="4038600" cy="9751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062" y="1544241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Clasificador Perfecto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96062" y="1868091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que toca la </a:t>
            </a:r>
            <a:r>
              <a:rPr lang="en-US" sz="975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esquina superior izquierda</a:t>
            </a: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(0,1)</a:t>
            </a:r>
            <a:endParaRPr lang="en-US" sz="975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TPR = 100%, FPR = 0%</a:t>
            </a:r>
            <a:endParaRPr lang="en-US" sz="975" dirty="0"/>
          </a:p>
        </p:txBody>
      </p:sp>
      <p:pic>
        <p:nvPicPr>
          <p:cNvPr id="6" name="Image 1" descr="/tmp/rasterized-gradient-00747a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391841"/>
            <a:ext cx="4038600" cy="9751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39462" y="1544241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Clasificador Aleatorio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839462" y="1868091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diagonal de (0,0) a (1,1)</a:t>
            </a:r>
            <a:endParaRPr lang="en-US" sz="975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mejor que lanzar una moneda</a:t>
            </a:r>
            <a:endParaRPr lang="en-US" sz="975" dirty="0"/>
          </a:p>
        </p:txBody>
      </p:sp>
      <p:sp>
        <p:nvSpPr>
          <p:cNvPr id="9" name="Text 5"/>
          <p:cNvSpPr/>
          <p:nvPr/>
        </p:nvSpPr>
        <p:spPr>
          <a:xfrm>
            <a:off x="381000" y="2671763"/>
            <a:ext cx="8382000" cy="1616869"/>
          </a:xfrm>
          <a:prstGeom prst="roundRect">
            <a:avLst>
              <a:gd name="adj" fmla="val 47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52450" y="2843213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oro para interpretar: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552450" y="3138488"/>
            <a:ext cx="8039100" cy="97869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365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Cuanto más cerca de la esquina superior izquierda, mejor es el modelo.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curva </a:t>
            </a:r>
            <a:r>
              <a:rPr lang="en-US" sz="975" i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diagonal indica un modelo peor que el azar.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comparar modelos visualmente sin elegir un threshold específico.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útil incluso con </a:t>
            </a: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desbalanceadas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(ej: 15% sobrevivientes en Titanic).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297180" y="4574381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050"/>
              </a:spcBef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Titanic: un buen modelo predice sobrevivientes sin clasificar erróneamente muchos fallecidos.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28600" y="4800600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desbalanceadas: 62% fallecidos, 38% sobrevivientes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AUC: Área Bajo la Curva</a:t>
            </a:r>
            <a:endParaRPr lang="en-US" sz="2700" dirty="0"/>
          </a:p>
        </p:txBody>
      </p:sp>
      <p:pic>
        <p:nvPicPr>
          <p:cNvPr id="3" name="Image 0" descr="/tmp/rasterized-gradient-61be7f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1714"/>
            <a:ext cx="8382000" cy="897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522214"/>
            <a:ext cx="81610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</a:t>
            </a:r>
            <a:r>
              <a:rPr lang="en-US" sz="13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Under the ROC Curve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71500" y="18383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el rendimiento del clasificador en 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número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0 y 1.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1000" y="2533650"/>
            <a:ext cx="1866900" cy="1287512"/>
          </a:xfrm>
          <a:prstGeom prst="roundRect">
            <a:avLst>
              <a:gd name="adj" fmla="val 5918"/>
            </a:avLst>
          </a:prstGeom>
          <a:solidFill>
            <a:srgbClr val="FFFFFF"/>
          </a:solidFill>
          <a:ln w="28575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7495" y="2695575"/>
            <a:ext cx="1573911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527495" y="3312765"/>
            <a:ext cx="15739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Clasificador</a:t>
            </a:r>
            <a:endParaRPr lang="en-US" sz="975" dirty="0"/>
          </a:p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perfecto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2552700" y="2533650"/>
            <a:ext cx="1866900" cy="1287512"/>
          </a:xfrm>
          <a:prstGeom prst="roundRect">
            <a:avLst>
              <a:gd name="adj" fmla="val 5918"/>
            </a:avLst>
          </a:prstGeom>
          <a:solidFill>
            <a:srgbClr val="FFFFFF"/>
          </a:solidFill>
          <a:ln w="28575">
            <a:solidFill>
              <a:srgbClr val="3498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699195" y="2695575"/>
            <a:ext cx="1573911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0.7-0.9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2699195" y="3312765"/>
            <a:ext cx="15739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</a:t>
            </a:r>
            <a:endParaRPr lang="en-US" sz="975" dirty="0"/>
          </a:p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desempeño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724400" y="2533650"/>
            <a:ext cx="1866900" cy="1287512"/>
          </a:xfrm>
          <a:prstGeom prst="roundRect">
            <a:avLst>
              <a:gd name="adj" fmla="val 5918"/>
            </a:avLst>
          </a:prstGeom>
          <a:solidFill>
            <a:srgbClr val="FFFFFF"/>
          </a:solidFill>
          <a:ln w="28575">
            <a:solidFill>
              <a:srgbClr val="F39C1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70895" y="2695575"/>
            <a:ext cx="1573911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0.5-0.7</a:t>
            </a:r>
            <a:endParaRPr lang="en-US" sz="3150" dirty="0"/>
          </a:p>
        </p:txBody>
      </p:sp>
      <p:sp>
        <p:nvSpPr>
          <p:cNvPr id="14" name="Text 11"/>
          <p:cNvSpPr/>
          <p:nvPr/>
        </p:nvSpPr>
        <p:spPr>
          <a:xfrm>
            <a:off x="4870895" y="3312765"/>
            <a:ext cx="15739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Moderado</a:t>
            </a:r>
            <a:endParaRPr lang="en-US" sz="975" dirty="0"/>
          </a:p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débil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6896100" y="2533650"/>
            <a:ext cx="1866900" cy="1287512"/>
          </a:xfrm>
          <a:prstGeom prst="roundRect">
            <a:avLst>
              <a:gd name="adj" fmla="val 5918"/>
            </a:avLst>
          </a:prstGeom>
          <a:solidFill>
            <a:srgbClr val="FFFFFF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042595" y="2695575"/>
            <a:ext cx="1573911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7042595" y="3312765"/>
            <a:ext cx="15739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Clasificador</a:t>
            </a:r>
            <a:endParaRPr lang="en-US" sz="975" dirty="0"/>
          </a:p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aleatorio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381000" y="4106912"/>
            <a:ext cx="8382000" cy="687586"/>
          </a:xfrm>
          <a:prstGeom prst="roundRect">
            <a:avLst>
              <a:gd name="adj" fmla="val 1108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14350" y="4240262"/>
            <a:ext cx="8277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 útil el AUC?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514350" y="4489698"/>
            <a:ext cx="8277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Independiente del threshold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Robusto a desbalance</a:t>
            </a: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Comparación fácil entre modelos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28600" y="4800600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AUC = 0.85 significa que el modelo rankea correctamente el 85% de pares aleatorios (sobreviviente, fallecido)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44068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de Youden: Threshold óptimo</a:t>
            </a:r>
            <a:endParaRPr lang="en-US" sz="2700" dirty="0"/>
          </a:p>
        </p:txBody>
      </p:sp>
      <p:pic>
        <p:nvPicPr>
          <p:cNvPr id="3" name="Image 0" descr="/tmp/rasterized-gradient-676d0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76511"/>
            <a:ext cx="8382000" cy="8858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1547961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Sensibilidad + Especificidad - 1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2450" y="1890861"/>
            <a:ext cx="81998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el 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óptimo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curva ROC donde se maximiza la distancia vertical a la diagonal.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1000" y="2586186"/>
            <a:ext cx="4038600" cy="1201638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4813" y="2586186"/>
            <a:ext cx="0" cy="1201638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81025" y="2738586"/>
            <a:ext cx="37598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calcula?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1025" y="3001417"/>
            <a:ext cx="3759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evalúa el modelo en múltiples thresholds.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81025" y="3231803"/>
            <a:ext cx="3759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cada uno, se calcula J = TPR + (1-FPR) - 1.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81025" y="3462189"/>
            <a:ext cx="37598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threshold con </a:t>
            </a: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J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el óptimo.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724400" y="2548086"/>
            <a:ext cx="4038600" cy="1277838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48213" y="2548086"/>
            <a:ext cx="0" cy="1277838"/>
          </a:xfrm>
          <a:prstGeom prst="line">
            <a:avLst/>
          </a:prstGeom>
          <a:noFill/>
          <a:ln w="47625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924425" y="2700486"/>
            <a:ext cx="375989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 útil?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24425" y="2963317"/>
            <a:ext cx="3686175" cy="710208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365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Balancea sensibilidad y especificidad de forma equilibrada.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requiere información externa sobre costos de errores.</a:t>
            </a:r>
            <a:endParaRPr lang="en-US" sz="975" dirty="0"/>
          </a:p>
          <a:p>
            <a:pPr marL="95250" indent="-95250" algn="l">
              <a:lnSpc>
                <a:spcPts val="1365"/>
              </a:lnSpc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 razonable para ajustes posteriores.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381000" y="4111675"/>
            <a:ext cx="8382000" cy="638175"/>
          </a:xfrm>
          <a:prstGeom prst="roundRect">
            <a:avLst>
              <a:gd name="adj" fmla="val 1194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04813" y="4111675"/>
            <a:ext cx="0" cy="638175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561975" y="4245025"/>
            <a:ext cx="82290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Limitación:</a:t>
            </a:r>
            <a:r>
              <a:rPr lang="en-US" sz="975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Asume igual importancia para sensibilidad y especificidad. En contextos clínicos o de negocio, los costos de falsos positivos y falsos negativos pueden ser muy diferentes.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228600" y="4800600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típicos de J: 0 (aleatorio) a 1 (perfecto). En la práctica, J &gt; 0.5 indica buen rendimiento.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86746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Ventajas y Limitaciones de ROC</a:t>
            </a:r>
            <a:endParaRPr lang="en-US" sz="2700" dirty="0"/>
          </a:p>
        </p:txBody>
      </p:sp>
      <p:pic>
        <p:nvPicPr>
          <p:cNvPr id="3" name="Image 0" descr="/tmp/rasterized-gradient-3b141c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93081"/>
            <a:ext cx="4038600" cy="5066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631" y="1926431"/>
            <a:ext cx="38473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Ventajas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1000" y="2413992"/>
            <a:ext cx="4038600" cy="1919288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2566392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Independiente del threshold: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Evalúa todos los puntos de corte simultáneamente.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533400" y="2989064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Robusto a desbalance: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se ve afectado por distribución asimétrica de clases.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33400" y="3411736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visual: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Permite comparar múltiples modelos en un solo gráfico.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33400" y="3834408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única (AUC):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Resume rendimiento general en un número interpretable.</a:t>
            </a:r>
            <a:endParaRPr lang="en-US" sz="975" dirty="0"/>
          </a:p>
        </p:txBody>
      </p:sp>
      <p:pic>
        <p:nvPicPr>
          <p:cNvPr id="10" name="Image 1" descr="/tmp/rasterized-gradient-ca2493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793081"/>
            <a:ext cx="4038600" cy="5066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20031" y="1926431"/>
            <a:ext cx="38473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Limitaciones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24400" y="2413992"/>
            <a:ext cx="4038600" cy="1919288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876800" y="2566392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considera costos asimétricos: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Asume igual importancia para FP y FN.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4876800" y="2989064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puede ser engañoso: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modelos con igual AUC pueden ser muy diferentes.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4876800" y="3411736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indica calibración: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modelo con buen AUC puede tener probabilidades mal calibradas.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4876800" y="3834408"/>
            <a:ext cx="380847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indirecta:</a:t>
            </a: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Maximizar AUC no siempre optimiza la métrica de negocio.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228600" y="4800600"/>
            <a:ext cx="8860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</a:t>
            </a: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Usar ROC junto con otras métricas (Precision-Recall, matriz de confusión) para evaluación completa.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693</Words>
  <Application>Microsoft Office PowerPoint</Application>
  <PresentationFormat>On-screen Show (16:9)</PresentationFormat>
  <Paragraphs>80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Curvas ROC y AUC</dc:title>
  <dc:subject>Evaluación de Clasificadores Binarios</dc:subject>
  <dc:creator>Fran - Universidad Nacional del Oeste</dc:creator>
  <cp:lastModifiedBy>FERNANDEZ Francisco</cp:lastModifiedBy>
  <cp:revision>2</cp:revision>
  <dcterms:created xsi:type="dcterms:W3CDTF">2025-11-22T10:02:17Z</dcterms:created>
  <dcterms:modified xsi:type="dcterms:W3CDTF">2025-11-22T10:37:51Z</dcterms:modified>
</cp:coreProperties>
</file>