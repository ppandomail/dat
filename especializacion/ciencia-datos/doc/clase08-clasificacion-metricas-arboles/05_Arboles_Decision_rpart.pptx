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9473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43430" y="1043880"/>
            <a:ext cx="485699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00"/>
              </a:lnSpc>
              <a:spcAft>
                <a:spcPts val="2400"/>
              </a:spcAft>
              <a:buNone/>
            </a:pPr>
            <a:r>
              <a:rPr lang="en-US" sz="3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Árboles de Decisión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730066" y="1843980"/>
            <a:ext cx="568371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Aft>
                <a:spcPts val="3600"/>
              </a:spcAft>
              <a:buNone/>
            </a:pPr>
            <a:r>
              <a:rPr lang="en-US" sz="21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Concepto a la Implementación con rpart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811826" y="2956471"/>
            <a:ext cx="35201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del Oeste (UNO)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153233" y="3642271"/>
            <a:ext cx="28375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15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Applications | 2025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76250"/>
            <a:ext cx="519779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E67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es un Árbol de Decisión?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6750" y="1085850"/>
            <a:ext cx="796671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</a:t>
            </a:r>
            <a:r>
              <a:rPr lang="en-US" sz="15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árbol de decisión</a:t>
            </a: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un algoritmo de aprendizaje supervisado que modela decisiones mediante una estructura jerárquica de tipo árbol.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66750" y="2000250"/>
            <a:ext cx="79667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1200"/>
              </a:spcAft>
              <a:buNone/>
            </a:pPr>
            <a:r>
              <a:rPr lang="en-US" sz="21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Componentes Principales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66750" y="2472630"/>
            <a:ext cx="7810500" cy="14859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152400" indent="-1524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Nodo raíz: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punto de partida que contiene todo el dataset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Nodos internos: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Representan decisiones basadas en características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Ramas: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Los resultados posibles de cada decisión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Nodos hoja: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Las predicciones finales del modelo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6750" y="4366320"/>
            <a:ext cx="6972389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Aft>
                <a:spcPts val="1200"/>
              </a:spcAft>
              <a:buNone/>
            </a:pPr>
            <a:r>
              <a:rPr lang="en-US" sz="12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división del árbol busca maximizar la separación entre clases o minimizar el error de predicción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28625"/>
            <a:ext cx="644137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E67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¿Cómo Decide el Árbol Dónde Dividir?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6750" y="1038225"/>
            <a:ext cx="796671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árboles de decisión utilizan </a:t>
            </a:r>
            <a:r>
              <a:rPr lang="en-US" sz="15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medidas de impureza</a:t>
            </a: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determinar las mejores divisiones: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66750" y="1819275"/>
            <a:ext cx="79667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Clasificación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66750" y="2188815"/>
            <a:ext cx="7810500" cy="104775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152400" indent="-1524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de Gini: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Probabilidad de clasificar incorrectamente (0 = puro)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Entropía: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Mide el desorden en los datos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Ganancia de Información: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Reducción de entropía por una división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6750" y="3408015"/>
            <a:ext cx="79667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Regresión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6750" y="3777555"/>
            <a:ext cx="7810500" cy="6858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152400" indent="-1524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Varianza: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Minimizar dispersión dentro de cada grupo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MSE: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Error cuadrático medio de las predicciones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28625"/>
            <a:ext cx="585844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E67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Proceso de Construcción del Árbol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6750" y="1361783"/>
            <a:ext cx="7810500" cy="990600"/>
          </a:xfrm>
          <a:prstGeom prst="roundRect">
            <a:avLst>
              <a:gd name="adj" fmla="val 384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85800" y="1361783"/>
            <a:ext cx="0" cy="990600"/>
          </a:xfrm>
          <a:prstGeom prst="line">
            <a:avLst/>
          </a:prstGeom>
          <a:noFill/>
          <a:ln w="381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57250" y="1476083"/>
            <a:ext cx="761695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Seleccionar la mejor división:</a:t>
            </a: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Evaluar todas las variables y puntos de corte posibles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6750" y="2447633"/>
            <a:ext cx="7810500" cy="685800"/>
          </a:xfrm>
          <a:prstGeom prst="roundRect">
            <a:avLst>
              <a:gd name="adj" fmla="val 555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85800" y="2447633"/>
            <a:ext cx="0" cy="685800"/>
          </a:xfrm>
          <a:prstGeom prst="line">
            <a:avLst/>
          </a:prstGeom>
          <a:noFill/>
          <a:ln w="381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57250" y="2561933"/>
            <a:ext cx="76169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Dividir el nodo:</a:t>
            </a: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Crear dos nodos hijos basados en la condición encontrada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6750" y="3228683"/>
            <a:ext cx="7810500" cy="685800"/>
          </a:xfrm>
          <a:prstGeom prst="roundRect">
            <a:avLst>
              <a:gd name="adj" fmla="val 555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85800" y="3228683"/>
            <a:ext cx="0" cy="685800"/>
          </a:xfrm>
          <a:prstGeom prst="line">
            <a:avLst/>
          </a:prstGeom>
          <a:noFill/>
          <a:ln w="381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857250" y="3342983"/>
            <a:ext cx="76169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Recursión:</a:t>
            </a: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Repetir el proceso para cada nodo hijo hasta alcanzar criterio de parada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6750" y="4009733"/>
            <a:ext cx="7810500" cy="685800"/>
          </a:xfrm>
          <a:prstGeom prst="roundRect">
            <a:avLst>
              <a:gd name="adj" fmla="val 555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85800" y="4009733"/>
            <a:ext cx="0" cy="685800"/>
          </a:xfrm>
          <a:prstGeom prst="line">
            <a:avLst/>
          </a:prstGeom>
          <a:noFill/>
          <a:ln w="381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857250" y="4124033"/>
            <a:ext cx="76169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Asignar predicciones:</a:t>
            </a: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las hojas, asignar clase mayoritaria o valor promedio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28625"/>
            <a:ext cx="477031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E67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Hiperparámetros Principales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6750" y="1488392"/>
            <a:ext cx="79667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hiperparámetros controlan el crecimiento del árbol y previenen el sobreajuste: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66750" y="1934132"/>
            <a:ext cx="7966710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spcAft>
                <a:spcPts val="750"/>
              </a:spcAft>
              <a:buNone/>
            </a:pPr>
            <a:r>
              <a:rPr lang="en-US" sz="195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 de Profundidad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66750" y="2326443"/>
            <a:ext cx="7810500" cy="6858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152400" indent="-1524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max_depth / maxdepth: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Profundidad máxima del árbol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min_samples_split / minsplit: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Mínimo de observaciones para dividir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6750" y="3183693"/>
            <a:ext cx="7966710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spcAft>
                <a:spcPts val="750"/>
              </a:spcAft>
              <a:buNone/>
            </a:pPr>
            <a:r>
              <a:rPr lang="en-US" sz="195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 de Complejidad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66750" y="3576004"/>
            <a:ext cx="7810500" cy="6858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152400" indent="-1524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min_samples_leaf / minbucket: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Mínimo de observaciones en cada hoja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 (complexity parameter):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Penalización por agregar divisiones (R/rpart)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28625"/>
            <a:ext cx="39930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E67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Paquete rpart en 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6750" y="1038225"/>
            <a:ext cx="796671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rpart</a:t>
            </a: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(Recursive Partitioning and Regression Trees) es la implementación clásica de árboles de decisión en 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66750" y="1876425"/>
            <a:ext cx="79667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1200"/>
              </a:spcAft>
              <a:buNone/>
            </a:pPr>
            <a:r>
              <a:rPr lang="en-US" sz="21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Características Distintivas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66750" y="2348805"/>
            <a:ext cx="7810500" cy="18669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152400" indent="-1524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CART: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Algoritmo de Breiman et al. (1984)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Poda automática: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Validación cruzada interna para encontrar el mejor cp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de división: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Gini para clasificación, varianza para regresión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 integrada: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Funciona perfectamente con rpart.plot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Instalación por defecto: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Viene con R base, listo para usar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28625"/>
            <a:ext cx="624706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E67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Hiperparámetros Específicos de rpart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6750" y="1291445"/>
            <a:ext cx="79667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parámetros más importantes se pasan al argumento </a:t>
            </a: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la función rpart():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66750" y="1737185"/>
            <a:ext cx="7810500" cy="18669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152400" indent="-1524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 (complexity parameter):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Umbral mínimo de mejora. Valor por defecto: 0.01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minsplit: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Mínimo de observaciones en un nodo para dividirlo. Valor por defecto: 20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minbucket: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Mínimo de observaciones en nodos terminales. Valor por defecto: minsplit/3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maxdepth: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Profundidad máxima del árbol. Valor por defecto: 30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xval: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Número de folds para validación cruzada. Valor por defecto: 10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66750" y="3794585"/>
            <a:ext cx="7810500" cy="1219200"/>
          </a:xfrm>
          <a:prstGeom prst="roundRect">
            <a:avLst>
              <a:gd name="adj" fmla="val 312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85800" y="3794585"/>
            <a:ext cx="0" cy="1219200"/>
          </a:xfrm>
          <a:prstGeom prst="line">
            <a:avLst/>
          </a:prstGeom>
          <a:noFill/>
          <a:ln w="381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933450" y="4023185"/>
            <a:ext cx="746150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Poda post-crecimiento:</a:t>
            </a: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rpart crece un árbol grande y lo poda usando cp óptimo de cross-validation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28625"/>
            <a:ext cx="64608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E67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 vs Python: Diferencias en la Sintaxis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6750" y="1403986"/>
            <a:ext cx="7966710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spcAft>
                <a:spcPts val="750"/>
              </a:spcAft>
              <a:buNone/>
            </a:pPr>
            <a:r>
              <a:rPr lang="en-US" sz="195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 (rpart)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66750" y="1796297"/>
            <a:ext cx="7810500" cy="11049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152400" indent="-1524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</a:t>
            </a: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fórmulas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y ~ x1 + x2 + x3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Parámetros de control en </a:t>
            </a: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rpart.control()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Sintaxis declarativa y concisa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66750" y="3091697"/>
            <a:ext cx="7966710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spcAft>
                <a:spcPts val="750"/>
              </a:spcAft>
              <a:buNone/>
            </a:pPr>
            <a:r>
              <a:rPr lang="en-US" sz="195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(sklearn)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66750" y="3484008"/>
            <a:ext cx="7810500" cy="11049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152400" indent="-1524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</a:t>
            </a: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matrices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X e y separados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Parámetros en el </a:t>
            </a: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clasificador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Requiere llamada explícita a </a:t>
            </a: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fit()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28625"/>
            <a:ext cx="39930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E67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Ventajas y Limitaciones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85800" y="1537629"/>
            <a:ext cx="0" cy="2663130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895350" y="1537629"/>
            <a:ext cx="35558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1200"/>
              </a:spcAft>
              <a:buNone/>
            </a:pPr>
            <a:r>
              <a:rPr lang="en-US" sz="21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Ventajas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95350" y="2010009"/>
            <a:ext cx="3486150" cy="203835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152400" indent="-1524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Interpretables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fáciles de visualizar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requieren normalización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Manejan variables numéricas y categóricas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Capturan relaciones no-lineales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Robustos a outliers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781550" y="1537629"/>
            <a:ext cx="0" cy="266313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991100" y="1537629"/>
            <a:ext cx="35558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1200"/>
              </a:spcAft>
              <a:buNone/>
            </a:pPr>
            <a:r>
              <a:rPr lang="en-US" sz="2100" b="1" dirty="0">
                <a:solidFill>
                  <a:srgbClr val="E74C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✗ Limitaciones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991100" y="2010009"/>
            <a:ext cx="3486150" cy="203835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152400" indent="-1524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Propensos a </a:t>
            </a: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varianza (inestables)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Divisiones solo perpendiculares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Sesgos hacia variables con más categorías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inferior a ensembles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28625"/>
            <a:ext cx="54115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E67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Conclusiones y Próximos Pasos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6750" y="1403986"/>
            <a:ext cx="7966710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spcAft>
                <a:spcPts val="750"/>
              </a:spcAft>
              <a:buNone/>
            </a:pPr>
            <a:r>
              <a:rPr lang="en-US" sz="195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Mensajes Clave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66750" y="2373072"/>
            <a:ext cx="7810500" cy="14859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152400" indent="-1524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árboles son </a:t>
            </a: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interpretables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fundamentales en ML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</a:t>
            </a: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particionamiento recursivo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 reglas comprensibles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</a:t>
            </a: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hiperparámetros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balancean complejidad y generalización</a:t>
            </a:r>
            <a:endParaRPr lang="en-US" sz="1350" dirty="0"/>
          </a:p>
          <a:p>
            <a:pPr marL="152400" indent="-15240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rpart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(R) y </a:t>
            </a: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sklearn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(Python) son implementaciones robustas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656</Words>
  <Application>Microsoft Office PowerPoint</Application>
  <PresentationFormat>On-screen Show (16:9)</PresentationFormat>
  <Paragraphs>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Árboles de Decisión - Del Concepto a rpart</dc:title>
  <dc:subject>Data Science Applications</dc:subject>
  <dc:creator>Universidad Nacional del Oeste (UNO)</dc:creator>
  <cp:lastModifiedBy>FERNANDEZ Francisco</cp:lastModifiedBy>
  <cp:revision>2</cp:revision>
  <dcterms:created xsi:type="dcterms:W3CDTF">2025-11-22T09:02:51Z</dcterms:created>
  <dcterms:modified xsi:type="dcterms:W3CDTF">2025-11-22T09:07:55Z</dcterms:modified>
</cp:coreProperties>
</file>