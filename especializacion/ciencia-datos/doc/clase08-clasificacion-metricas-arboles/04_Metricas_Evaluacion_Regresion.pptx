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2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545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0102" y="1063823"/>
            <a:ext cx="58037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Evaluación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119533" y="2516314"/>
            <a:ext cx="2904935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33"/>
              </a:lnSpc>
              <a:spcAft>
                <a:spcPts val="2400"/>
              </a:spcAft>
              <a:buNone/>
            </a:pPr>
            <a:r>
              <a:rPr lang="en-US" sz="30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70102" y="3244382"/>
            <a:ext cx="580379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 de Variables Continuas</a:t>
            </a:r>
            <a:endParaRPr lang="en-US" sz="1800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670102" y="3678662"/>
            <a:ext cx="580379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3600"/>
              </a:spcAft>
              <a:buNone/>
            </a:pPr>
            <a:r>
              <a:rPr lang="en-US" sz="1350" i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Grunfeld Investment Data</a:t>
            </a:r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670102" y="4632948"/>
            <a:ext cx="580379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del Oeste (UNO)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9944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 problema de regresión?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933450"/>
            <a:ext cx="8382000" cy="1137047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9575" y="933450"/>
            <a:ext cx="0" cy="1137047"/>
          </a:xfrm>
          <a:prstGeom prst="line">
            <a:avLst/>
          </a:prstGeom>
          <a:noFill/>
          <a:ln w="57150">
            <a:solidFill>
              <a:srgbClr val="1791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09600" y="1104900"/>
            <a:ext cx="814158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 clave vs clasificación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1424880"/>
            <a:ext cx="39930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Clasificación: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1649611"/>
            <a:ext cx="39930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Categorías discretas (sobrevivió/murió)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676775" y="1424880"/>
            <a:ext cx="39930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Regresión: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76775" y="1649611"/>
            <a:ext cx="39930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continuos (precio, temperatura, inversión)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81000" y="2260997"/>
            <a:ext cx="8382000" cy="820936"/>
          </a:xfrm>
          <a:prstGeom prst="roundRect">
            <a:avLst>
              <a:gd name="adj" fmla="val 4641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2450" y="2432447"/>
            <a:ext cx="819988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2450" y="2710458"/>
            <a:ext cx="81998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Minimizar la diferencia entre predicción y valor real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1000" y="3272433"/>
            <a:ext cx="85496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de problemas de regresión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1000" y="3550444"/>
            <a:ext cx="2717750" cy="420886"/>
          </a:xfrm>
          <a:prstGeom prst="roundRect">
            <a:avLst>
              <a:gd name="adj" fmla="val 9052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0124" y="3674269"/>
            <a:ext cx="25195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de viviendas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213050" y="3550444"/>
            <a:ext cx="2717750" cy="420886"/>
          </a:xfrm>
          <a:prstGeom prst="roundRect">
            <a:avLst>
              <a:gd name="adj" fmla="val 9052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12174" y="3674269"/>
            <a:ext cx="25195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empresarial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045101" y="3550444"/>
            <a:ext cx="2717750" cy="420886"/>
          </a:xfrm>
          <a:prstGeom prst="roundRect">
            <a:avLst>
              <a:gd name="adj" fmla="val 9052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44225" y="3674269"/>
            <a:ext cx="25195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381000" y="47244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Grunfeld: predicción de inversión bruta (variable continua)</a:t>
            </a:r>
            <a:endParaRPr lang="en-US" sz="75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3532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en Regresión: Residuos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933450"/>
            <a:ext cx="4447282" cy="980777"/>
          </a:xfrm>
          <a:prstGeom prst="roundRect">
            <a:avLst>
              <a:gd name="adj" fmla="val 38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9575" y="933450"/>
            <a:ext cx="0" cy="980777"/>
          </a:xfrm>
          <a:prstGeom prst="line">
            <a:avLst/>
          </a:prstGeom>
          <a:noFill/>
          <a:ln w="57150">
            <a:solidFill>
              <a:srgbClr val="1791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90550" y="1085850"/>
            <a:ext cx="416703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Residuo (error)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9697" y="1363861"/>
            <a:ext cx="4167039" cy="397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D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yreal - ypred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81000" y="2066627"/>
            <a:ext cx="4447282" cy="2791123"/>
          </a:xfrm>
          <a:prstGeom prst="roundRect">
            <a:avLst>
              <a:gd name="adj" fmla="val 136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1975" y="2219027"/>
            <a:ext cx="42253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conceptual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33400" y="2506563"/>
            <a:ext cx="4142482" cy="1524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85900" y="2887563"/>
            <a:ext cx="95250" cy="95250"/>
          </a:xfrm>
          <a:prstGeom prst="roundRect">
            <a:avLst>
              <a:gd name="adj" fmla="val 96000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14475" y="2963763"/>
            <a:ext cx="19050" cy="3048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14650" y="3459063"/>
            <a:ext cx="95250" cy="95250"/>
          </a:xfrm>
          <a:prstGeom prst="roundRect">
            <a:avLst>
              <a:gd name="adj" fmla="val 96000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43225" y="3287613"/>
            <a:ext cx="19050" cy="17145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43400" y="3078063"/>
            <a:ext cx="95250" cy="95250"/>
          </a:xfrm>
          <a:prstGeom prst="roundRect">
            <a:avLst>
              <a:gd name="adj" fmla="val 96000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71975" y="3154263"/>
            <a:ext cx="19050" cy="1143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27125" y="385911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264694" y="3840063"/>
            <a:ext cx="19050" cy="1143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56882" y="933450"/>
            <a:ext cx="37802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error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56882" y="1268611"/>
            <a:ext cx="3706118" cy="1131391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99782" y="1421011"/>
            <a:ext cx="21311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Subestimación (underprediction)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09282" y="1668661"/>
            <a:ext cx="3469344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&lt; y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209282" y="1927622"/>
            <a:ext cx="34693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predice menos de lo que realmente ocurre → residuo positivo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56882" y="2552402"/>
            <a:ext cx="3706118" cy="1131391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99782" y="2704802"/>
            <a:ext cx="21692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Sobreestimación (overprediction)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09282" y="2952452"/>
            <a:ext cx="3469344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&gt; y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209282" y="3211413"/>
            <a:ext cx="34693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predice más de lo que realmente ocurre → residuo negativo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1000" y="47244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residuos nos indican qué tan lejos están nuestras predicciones de los valores reales</a:t>
            </a:r>
            <a:endParaRPr lang="en-US" sz="75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39600B4-784E-A812-5A14-8CD4132A8581}"/>
              </a:ext>
            </a:extLst>
          </p:cNvPr>
          <p:cNvCxnSpPr/>
          <p:nvPr/>
        </p:nvCxnSpPr>
        <p:spPr>
          <a:xfrm flipV="1">
            <a:off x="590550" y="2571750"/>
            <a:ext cx="3981450" cy="12683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17399" y="482600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Métricas Principales de Regresión</a:t>
            </a:r>
            <a:endParaRPr lang="en-US" sz="24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3" name="Picture 12" descr="A close up of text&#10;&#10;AI-generated content may be incorrect.">
            <a:extLst>
              <a:ext uri="{FF2B5EF4-FFF2-40B4-BE49-F238E27FC236}">
                <a16:creationId xmlns:a16="http://schemas.microsoft.com/office/drawing/2014/main" id="{E1CB2EBF-B043-9231-BCFE-40A0CE406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1892118"/>
            <a:ext cx="8178799" cy="20242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854430-152D-91BF-14C5-F48DFCD7A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8996"/>
            <a:ext cx="9144000" cy="330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75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163</Words>
  <Application>Microsoft Office PowerPoint</Application>
  <PresentationFormat>On-screen Show (16:9)</PresentationFormat>
  <Paragraphs>35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Métricas de Evaluación - Regresión</dc:title>
  <dc:subject>Data Science - Métricas de Regresión</dc:subject>
  <dc:creator>Universidad Nacional del Oeste (UNO)</dc:creator>
  <cp:lastModifiedBy>FERNANDEZ Francisco</cp:lastModifiedBy>
  <cp:revision>2</cp:revision>
  <dcterms:created xsi:type="dcterms:W3CDTF">2025-11-22T10:25:04Z</dcterms:created>
  <dcterms:modified xsi:type="dcterms:W3CDTF">2025-11-22T10:37:46Z</dcterms:modified>
</cp:coreProperties>
</file>